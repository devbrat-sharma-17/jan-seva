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7" r:id="rId2"/>
    <p:sldId id="291" r:id="rId3"/>
    <p:sldId id="281" r:id="rId4"/>
    <p:sldId id="290" r:id="rId5"/>
    <p:sldId id="293" r:id="rId6"/>
    <p:sldId id="294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92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97946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462022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2728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&lt;SIH018&gt;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Smart Civic Issue Reporting Platform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ID-  Future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Minds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548640" y="1005840"/>
            <a:ext cx="5669280" cy="384048"/>
          </a:xfrm>
        </p:spPr>
        <p:txBody>
          <a:bodyPr/>
          <a:lstStyle/>
          <a:p>
            <a:pPr algn="l"/>
            <a:r>
              <a:rPr sz="1200" b="1" i="0">
                <a:solidFill>
                  <a:srgbClr val="6B7C84"/>
                </a:solidFill>
                <a:latin typeface="Segoe UI"/>
              </a:rPr>
              <a:t>TITLE PAGE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8640" y="310896"/>
            <a:ext cx="8778240" cy="731520"/>
          </a:xfrm>
        </p:spPr>
        <p:txBody>
          <a:bodyPr/>
          <a:lstStyle/>
          <a:p>
            <a:pPr algn="l"/>
            <a:r>
              <a:rPr sz="2600" b="1">
                <a:solidFill>
                  <a:srgbClr val="142A3D"/>
                </a:solidFill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48640" y="1481328"/>
            <a:ext cx="5760720" cy="141732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4600" b="1" i="0">
                <a:solidFill>
                  <a:srgbClr val="142A3D"/>
                </a:solidFill>
                <a:latin typeface="Segoe UI"/>
              </a:rPr>
              <a:t>JAN-SEVA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B35A12"/>
                </a:solidFill>
                <a:latin typeface="Segoe UI"/>
              </a:rPr>
              <a:t>जन-सेवा  ·  Aapki Samasya, Hamari Jimmedari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E5158"/>
                </a:solidFill>
                <a:latin typeface="Segoe UI"/>
              </a:rPr>
              <a:t>A proof-of-work record for municipal maintenance — every citizen report becomes an evidence-bound job against a named piece of city infrastructure.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063240"/>
            <a:ext cx="5760720" cy="2395728"/>
          </a:xfrm>
          <a:prstGeom prst="roundRect">
            <a:avLst>
              <a:gd name="adj" fmla="val 4000"/>
            </a:avLst>
          </a:prstGeom>
          <a:solidFill>
            <a:srgbClr val="F5F7F6"/>
          </a:solidFill>
          <a:ln w="12700">
            <a:solidFill>
              <a:srgbClr val="D7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3232" y="3200400"/>
            <a:ext cx="5449824" cy="143039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 dirty="0">
                <a:solidFill>
                  <a:srgbClr val="6B7C84"/>
                </a:solidFill>
                <a:latin typeface="Segoe UI"/>
              </a:rPr>
              <a:t>Problem Statement ID  </a:t>
            </a:r>
            <a:r>
              <a:rPr sz="1150" b="1" i="0" dirty="0">
                <a:solidFill>
                  <a:srgbClr val="101A22"/>
                </a:solidFill>
                <a:latin typeface="Segoe UI"/>
              </a:rPr>
              <a:t>SIH018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 dirty="0">
                <a:solidFill>
                  <a:srgbClr val="6B7C84"/>
                </a:solidFill>
                <a:latin typeface="Segoe UI"/>
              </a:rPr>
              <a:t>Problem Statement Title  </a:t>
            </a:r>
            <a:r>
              <a:rPr sz="1150" b="1" i="0" dirty="0">
                <a:solidFill>
                  <a:srgbClr val="101A22"/>
                </a:solidFill>
                <a:latin typeface="Segoe UI"/>
              </a:rPr>
              <a:t>Smart Civic Issue Reporting Platform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 dirty="0">
                <a:solidFill>
                  <a:srgbClr val="6B7C84"/>
                </a:solidFill>
                <a:latin typeface="Segoe UI"/>
              </a:rPr>
              <a:t>Theme  </a:t>
            </a:r>
            <a:r>
              <a:rPr sz="1150" b="1" i="0" dirty="0">
                <a:solidFill>
                  <a:srgbClr val="101A22"/>
                </a:solidFill>
                <a:latin typeface="Segoe UI"/>
              </a:rPr>
              <a:t>Smart Automation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 dirty="0">
                <a:solidFill>
                  <a:srgbClr val="6B7C84"/>
                </a:solidFill>
                <a:latin typeface="Segoe UI"/>
              </a:rPr>
              <a:t>PS Category  </a:t>
            </a:r>
            <a:r>
              <a:rPr sz="1150" b="1" i="0" dirty="0">
                <a:solidFill>
                  <a:srgbClr val="101A22"/>
                </a:solidFill>
                <a:latin typeface="Segoe UI"/>
              </a:rPr>
              <a:t>Software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 dirty="0">
                <a:solidFill>
                  <a:srgbClr val="6B7C84"/>
                </a:solidFill>
                <a:latin typeface="Segoe UI"/>
              </a:rPr>
              <a:t>Team Name  </a:t>
            </a:r>
            <a:r>
              <a:rPr sz="1150" b="1" i="0" dirty="0">
                <a:solidFill>
                  <a:srgbClr val="101A22"/>
                </a:solidFill>
                <a:latin typeface="Segoe UI"/>
              </a:rPr>
              <a:t>Future Minds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 dirty="0">
                <a:solidFill>
                  <a:srgbClr val="6B7C84"/>
                </a:solidFill>
                <a:latin typeface="Segoe UI"/>
              </a:rPr>
              <a:t>Team ID  </a:t>
            </a:r>
            <a:r>
              <a:rPr lang="en-IN" sz="1150" b="1" dirty="0">
                <a:solidFill>
                  <a:srgbClr val="101A22"/>
                </a:solidFill>
                <a:latin typeface="Segoe UI"/>
              </a:rPr>
              <a:t>IH09</a:t>
            </a:r>
            <a:endParaRPr sz="1150" b="1" i="0" dirty="0">
              <a:solidFill>
                <a:srgbClr val="101A22"/>
              </a:solidFill>
              <a:latin typeface="Segoe UI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300216" y="1426464"/>
            <a:ext cx="5458968" cy="32115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41" name="Picture 40" descr="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81328"/>
            <a:ext cx="5349240" cy="310181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355080" y="4692872"/>
            <a:ext cx="5349240" cy="82296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2703A"/>
                </a:solidFill>
                <a:latin typeface="Segoe UI"/>
              </a:rPr>
              <a:t>Working prototype — not a mockup.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E5158"/>
                </a:solidFill>
                <a:latin typeface="Segoe UI"/>
              </a:rPr>
              <a:t>Citizen portal, five department portals and an Admin Command Centre are built and running: 207 source files, ~26,000 lines of TypeScript.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669280"/>
            <a:ext cx="1847088" cy="402336"/>
          </a:xfrm>
          <a:prstGeom prst="roundRect">
            <a:avLst>
              <a:gd name="adj" fmla="val 28000"/>
            </a:avLst>
          </a:prstGeom>
          <a:solidFill>
            <a:srgbClr val="E9F7EF"/>
          </a:solidFill>
          <a:ln w="12700">
            <a:solidFill>
              <a:srgbClr val="127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5669280"/>
            <a:ext cx="1847088" cy="40233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703A"/>
                </a:solidFill>
                <a:latin typeface="Segoe UI"/>
              </a:rPr>
              <a:t>Proof of Repair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05456" y="5669280"/>
            <a:ext cx="1847088" cy="402336"/>
          </a:xfrm>
          <a:prstGeom prst="roundRect">
            <a:avLst>
              <a:gd name="adj" fmla="val 28000"/>
            </a:avLst>
          </a:prstGeom>
          <a:solidFill>
            <a:srgbClr val="EAF0FC"/>
          </a:solidFill>
          <a:ln w="12700">
            <a:solidFill>
              <a:srgbClr val="1E3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505456" y="5669280"/>
            <a:ext cx="1847088" cy="40233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3FA8"/>
                </a:solidFill>
                <a:latin typeface="Segoe UI"/>
              </a:rPr>
              <a:t>Civic Asset Memory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62272" y="5669280"/>
            <a:ext cx="1847088" cy="402336"/>
          </a:xfrm>
          <a:prstGeom prst="roundRect">
            <a:avLst>
              <a:gd name="adj" fmla="val 28000"/>
            </a:avLst>
          </a:prstGeom>
          <a:solidFill>
            <a:srgbClr val="FDF1E8"/>
          </a:solidFill>
          <a:ln w="12700">
            <a:solidFill>
              <a:srgbClr val="B35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462272" y="5669280"/>
            <a:ext cx="1847088" cy="40233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35A12"/>
                </a:solidFill>
                <a:latin typeface="Segoe UI"/>
              </a:rPr>
              <a:t>One-Trip Work Card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45920" y="274320"/>
            <a:ext cx="8138160" cy="713232"/>
          </a:xfrm>
        </p:spPr>
        <p:txBody>
          <a:bodyPr wrap="square"/>
          <a:lstStyle/>
          <a:p>
            <a:pPr algn="ctr" eaLnBrk="1" hangingPunct="1"/>
            <a:r>
              <a:rPr sz="2800" b="1">
                <a:solidFill>
                  <a:srgbClr val="142A3D"/>
                </a:solidFill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Future Minds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365760" y="1188720"/>
            <a:ext cx="11457432" cy="566928"/>
          </a:xfrm>
          <a:prstGeom prst="roundRect">
            <a:avLst>
              <a:gd name="adj" fmla="val 5000"/>
            </a:avLst>
          </a:prstGeom>
          <a:solidFill>
            <a:srgbClr val="EAF0FC"/>
          </a:solidFill>
          <a:ln w="12700">
            <a:solidFill>
              <a:srgbClr val="1E3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15363" name="Rectangle 15362"/>
          <p:cNvSpPr/>
          <p:nvPr/>
        </p:nvSpPr>
        <p:spPr>
          <a:xfrm>
            <a:off x="365760" y="1188720"/>
            <a:ext cx="50292" cy="566928"/>
          </a:xfrm>
          <a:prstGeom prst="rect">
            <a:avLst/>
          </a:prstGeom>
          <a:solidFill>
            <a:srgbClr val="1E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64" name="TextBox 15363"/>
          <p:cNvSpPr txBox="1"/>
          <p:nvPr/>
        </p:nvSpPr>
        <p:spPr>
          <a:xfrm>
            <a:off x="576072" y="1148188"/>
            <a:ext cx="11128248" cy="56692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dirty="0">
                <a:solidFill>
                  <a:srgbClr val="1E3FA8"/>
                </a:solidFill>
                <a:latin typeface="Segoe UI"/>
              </a:rPr>
              <a:t>Proposed Solution —</a:t>
            </a:r>
            <a:r>
              <a:rPr sz="1300" b="0" i="0" dirty="0">
                <a:solidFill>
                  <a:srgbClr val="101A22"/>
                </a:solidFill>
                <a:latin typeface="Segoe UI"/>
              </a:rPr>
              <a:t>  India already solved civic reporting. Nobody verifies the repair. JAN-SEVA does.</a:t>
            </a:r>
          </a:p>
        </p:txBody>
      </p:sp>
      <p:pic>
        <p:nvPicPr>
          <p:cNvPr id="15365" name="Picture 15364" descr="g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287" y="1803725"/>
            <a:ext cx="11912378" cy="3691379"/>
          </a:xfrm>
          <a:prstGeom prst="rect">
            <a:avLst/>
          </a:prstGeom>
        </p:spPr>
      </p:pic>
      <p:sp>
        <p:nvSpPr>
          <p:cNvPr id="15366" name="Rounded Rectangle 15365"/>
          <p:cNvSpPr/>
          <p:nvPr/>
        </p:nvSpPr>
        <p:spPr>
          <a:xfrm>
            <a:off x="365760" y="5412808"/>
            <a:ext cx="3685032" cy="859975"/>
          </a:xfrm>
          <a:prstGeom prst="roundRect">
            <a:avLst>
              <a:gd name="adj" fmla="val 7000"/>
            </a:avLst>
          </a:prstGeom>
          <a:solidFill>
            <a:srgbClr val="E9F7EF"/>
          </a:solidFill>
          <a:ln w="12700">
            <a:solidFill>
              <a:srgbClr val="127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67" name="TextBox 15366"/>
          <p:cNvSpPr txBox="1"/>
          <p:nvPr/>
        </p:nvSpPr>
        <p:spPr>
          <a:xfrm>
            <a:off x="484632" y="5495104"/>
            <a:ext cx="3447288" cy="695383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2703A"/>
                </a:solidFill>
                <a:latin typeface="Segoe UI"/>
              </a:rPr>
              <a:t>1  Proof of Repair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E5158"/>
                </a:solidFill>
                <a:latin typeface="Segoe UI"/>
              </a:rPr>
              <a:t>Evidence must be captured live in-app, at the reported location, on an un-spoofed device, and must never have been submitted before anywhere in the city.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4251960" y="5412808"/>
            <a:ext cx="3685032" cy="859975"/>
          </a:xfrm>
          <a:prstGeom prst="roundRect">
            <a:avLst>
              <a:gd name="adj" fmla="val 7000"/>
            </a:avLst>
          </a:prstGeom>
          <a:solidFill>
            <a:srgbClr val="EAF0FC"/>
          </a:solidFill>
          <a:ln w="12700">
            <a:solidFill>
              <a:srgbClr val="1E3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69" name="TextBox 15368"/>
          <p:cNvSpPr txBox="1"/>
          <p:nvPr/>
        </p:nvSpPr>
        <p:spPr>
          <a:xfrm>
            <a:off x="4370832" y="5495104"/>
            <a:ext cx="3447288" cy="695383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dirty="0">
                <a:solidFill>
                  <a:srgbClr val="1E3FA8"/>
                </a:solidFill>
                <a:latin typeface="Segoe UI"/>
              </a:rPr>
              <a:t>2  Civic Asset Memory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3E5158"/>
                </a:solidFill>
                <a:latin typeface="Segoe UI"/>
              </a:rPr>
              <a:t>Reports attach to a road segment, pole or drain — not a coordinate. A repeat failure inside the contractor's defect liability period becomes a warranty claim, not a new municipal bill.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8138160" y="5412808"/>
            <a:ext cx="3685032" cy="859975"/>
          </a:xfrm>
          <a:prstGeom prst="roundRect">
            <a:avLst>
              <a:gd name="adj" fmla="val 7000"/>
            </a:avLst>
          </a:prstGeom>
          <a:solidFill>
            <a:srgbClr val="FDF1E8"/>
          </a:solidFill>
          <a:ln w="12700">
            <a:solidFill>
              <a:srgbClr val="B35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71" name="TextBox 15370"/>
          <p:cNvSpPr txBox="1"/>
          <p:nvPr/>
        </p:nvSpPr>
        <p:spPr>
          <a:xfrm>
            <a:off x="8257032" y="5495104"/>
            <a:ext cx="3447288" cy="695383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B35A12"/>
                </a:solidFill>
                <a:latin typeface="Segoe UI"/>
              </a:rPr>
              <a:t>3  One-Trip Work Card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E5158"/>
                </a:solidFill>
                <a:latin typeface="Segoe UI"/>
              </a:rPr>
              <a:t>Nearby jobs of the same skill are batched into one routed field visit that works offline — so the crew drives once, not five times.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274320"/>
            <a:ext cx="8138160" cy="713232"/>
          </a:xfrm>
        </p:spPr>
        <p:txBody>
          <a:bodyPr wrap="square"/>
          <a:lstStyle/>
          <a:p>
            <a:pPr algn="ctr" eaLnBrk="1" hangingPunct="1"/>
            <a:r>
              <a:rPr sz="2800" b="1">
                <a:solidFill>
                  <a:srgbClr val="142A3D"/>
                </a:solidFill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Future Minds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8" y="1032634"/>
            <a:ext cx="12126012" cy="3760849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365760" y="4793483"/>
            <a:ext cx="5618988" cy="1479300"/>
          </a:xfrm>
          <a:prstGeom prst="roundRect">
            <a:avLst>
              <a:gd name="adj" fmla="val 5000"/>
            </a:avLst>
          </a:prstGeom>
          <a:solidFill>
            <a:srgbClr val="F5F7F6"/>
          </a:solidFill>
          <a:ln w="12700">
            <a:solidFill>
              <a:srgbClr val="D7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502920" y="4884923"/>
            <a:ext cx="5344668" cy="129642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 dirty="0">
                <a:solidFill>
                  <a:srgbClr val="12703A"/>
                </a:solidFill>
                <a:latin typeface="Segoe UI"/>
              </a:rPr>
              <a:t>Built and running today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 i="0" dirty="0">
                <a:solidFill>
                  <a:srgbClr val="9BAAB0"/>
                </a:solidFill>
                <a:latin typeface="Segoe UI"/>
              </a:rPr>
              <a:t>•  </a:t>
            </a:r>
            <a:r>
              <a:rPr sz="980" b="1" i="0" dirty="0">
                <a:solidFill>
                  <a:srgbClr val="101A22"/>
                </a:solidFill>
                <a:latin typeface="Segoe UI"/>
              </a:rPr>
              <a:t>Citizen, department and admin portals — </a:t>
            </a:r>
            <a:r>
              <a:rPr sz="980" b="0" i="0" dirty="0">
                <a:solidFill>
                  <a:srgbClr val="3E5158"/>
                </a:solidFill>
                <a:latin typeface="Segoe UI"/>
              </a:rPr>
              <a:t>report wizard, live tracking, SLA engine, escalation, audit trail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 i="0" dirty="0">
                <a:solidFill>
                  <a:srgbClr val="9BAAB0"/>
                </a:solidFill>
                <a:latin typeface="Segoe UI"/>
              </a:rPr>
              <a:t>•  </a:t>
            </a:r>
            <a:r>
              <a:rPr sz="980" b="1" i="0" dirty="0">
                <a:solidFill>
                  <a:srgbClr val="101A22"/>
                </a:solidFill>
                <a:latin typeface="Segoe UI"/>
              </a:rPr>
              <a:t>Offline sync queue — </a:t>
            </a:r>
            <a:r>
              <a:rPr sz="980" b="0" i="0" dirty="0">
                <a:solidFill>
                  <a:srgbClr val="3E5158"/>
                </a:solidFill>
                <a:latin typeface="Segoe UI"/>
              </a:rPr>
              <a:t>ordered retry with backoff, so a field note is never lost on one bar of signal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 i="0" dirty="0">
                <a:solidFill>
                  <a:srgbClr val="9BAAB0"/>
                </a:solidFill>
                <a:latin typeface="Segoe UI"/>
              </a:rPr>
              <a:t>•  </a:t>
            </a:r>
            <a:r>
              <a:rPr sz="980" b="1" i="0" dirty="0">
                <a:solidFill>
                  <a:srgbClr val="101A22"/>
                </a:solidFill>
                <a:latin typeface="Segoe UI"/>
              </a:rPr>
              <a:t>Privacy by type — </a:t>
            </a:r>
            <a:r>
              <a:rPr sz="980" b="0" i="0" dirty="0">
                <a:solidFill>
                  <a:srgbClr val="3E5158"/>
                </a:solidFill>
                <a:latin typeface="Segoe UI"/>
              </a:rPr>
              <a:t>the public view has no reporter field, so identity cannot leak even by mistake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204204" y="4793483"/>
            <a:ext cx="5618988" cy="1479300"/>
          </a:xfrm>
          <a:prstGeom prst="roundRect">
            <a:avLst>
              <a:gd name="adj" fmla="val 5000"/>
            </a:avLst>
          </a:prstGeom>
          <a:solidFill>
            <a:srgbClr val="F5F7F6"/>
          </a:solidFill>
          <a:ln w="12700">
            <a:solidFill>
              <a:srgbClr val="D7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6341364" y="4884923"/>
            <a:ext cx="5344668" cy="129642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35A12"/>
                </a:solidFill>
                <a:latin typeface="Segoe UI"/>
              </a:rPr>
              <a:t>What we still have to build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980" b="1" i="0">
                <a:solidFill>
                  <a:srgbClr val="101A22"/>
                </a:solidFill>
                <a:latin typeface="Segoe UI"/>
              </a:rPr>
              <a:t>Server-side capture proof — </a:t>
            </a:r>
            <a:r>
              <a:rPr sz="980" b="0" i="0">
                <a:solidFill>
                  <a:srgbClr val="3E5158"/>
                </a:solidFill>
                <a:latin typeface="Segoe UI"/>
              </a:rPr>
              <a:t>issued nonce, RFC 3161 timestamp, Play Integrity and mock-location attestation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980" b="1" i="0">
                <a:solidFill>
                  <a:srgbClr val="101A22"/>
                </a:solidFill>
                <a:latin typeface="Segoe UI"/>
              </a:rPr>
              <a:t>Asset layer — </a:t>
            </a:r>
            <a:r>
              <a:rPr sz="980" b="0" i="0">
                <a:solidFill>
                  <a:srgbClr val="3E5158"/>
                </a:solidFill>
                <a:latin typeface="Segoe UI"/>
              </a:rPr>
              <a:t>real geometry from ULB GIS, or OSM road segments where no GIS exists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980" b="1" i="0">
                <a:solidFill>
                  <a:srgbClr val="101A22"/>
                </a:solidFill>
                <a:latin typeface="Segoe UI"/>
              </a:rPr>
              <a:t>Bhashini integration — </a:t>
            </a:r>
            <a:r>
              <a:rPr sz="980" b="0" i="0">
                <a:solidFill>
                  <a:srgbClr val="3E5158"/>
                </a:solidFill>
                <a:latin typeface="Segoe UI"/>
              </a:rPr>
              <a:t>Hindi speech to a structured complaint, using national language DPI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274320"/>
            <a:ext cx="8138160" cy="713232"/>
          </a:xfrm>
        </p:spPr>
        <p:txBody>
          <a:bodyPr wrap="square"/>
          <a:lstStyle/>
          <a:p>
            <a:pPr algn="ctr" eaLnBrk="1" hangingPunct="1"/>
            <a:r>
              <a:rPr sz="2800" b="1">
                <a:solidFill>
                  <a:srgbClr val="142A3D"/>
                </a:solidFill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Future Minds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88720"/>
            <a:ext cx="11457432" cy="548640"/>
          </a:xfrm>
          <a:prstGeom prst="roundRect">
            <a:avLst>
              <a:gd name="adj" fmla="val 5000"/>
            </a:avLst>
          </a:prstGeom>
          <a:solidFill>
            <a:srgbClr val="E9F7EF"/>
          </a:solidFill>
          <a:ln w="12700">
            <a:solidFill>
              <a:srgbClr val="127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11" name="Rectangle 17410"/>
          <p:cNvSpPr/>
          <p:nvPr/>
        </p:nvSpPr>
        <p:spPr>
          <a:xfrm>
            <a:off x="365760" y="1188720"/>
            <a:ext cx="50292" cy="548640"/>
          </a:xfrm>
          <a:prstGeom prst="rect">
            <a:avLst/>
          </a:prstGeom>
          <a:solidFill>
            <a:srgbClr val="12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548640" y="1188720"/>
            <a:ext cx="11128248" cy="5486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703A"/>
                </a:solidFill>
                <a:latin typeface="Segoe UI"/>
              </a:rPr>
              <a:t>Feasibility is already demonstrated —</a:t>
            </a:r>
            <a:r>
              <a:rPr sz="1150" b="0" i="0">
                <a:solidFill>
                  <a:srgbClr val="101A22"/>
                </a:solidFill>
                <a:latin typeface="Segoe UI"/>
              </a:rPr>
              <a:t>  a working three-portal prototype exists, and every core engine is deterministic: hashing, geometry, a SQL join, a greedy heuristic and arithmetic.</a:t>
            </a:r>
          </a:p>
        </p:txBody>
      </p:sp>
      <p:pic>
        <p:nvPicPr>
          <p:cNvPr id="17413" name="Picture 17412" descr="ri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1862243"/>
            <a:ext cx="11623274" cy="448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274320"/>
            <a:ext cx="8138160" cy="713232"/>
          </a:xfrm>
        </p:spPr>
        <p:txBody>
          <a:bodyPr wrap="square"/>
          <a:lstStyle/>
          <a:p>
            <a:pPr algn="ctr" eaLnBrk="1" hangingPunct="1"/>
            <a:r>
              <a:rPr sz="2800" b="1">
                <a:solidFill>
                  <a:srgbClr val="142A3D"/>
                </a:solidFill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Future Minds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imp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89" y="1117436"/>
            <a:ext cx="12014773" cy="2715548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365760" y="3723256"/>
            <a:ext cx="11457432" cy="219456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B7C84"/>
                </a:solidFill>
                <a:latin typeface="Segoe UI"/>
              </a:rPr>
              <a:t>THE PROTOTYPE, RUNNING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975207" y="3924424"/>
            <a:ext cx="3218688" cy="20391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7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7413" name="Picture 17412" descr="adm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536" y="3929367"/>
            <a:ext cx="3369772" cy="2106108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586976" y="6160005"/>
            <a:ext cx="3145536" cy="27432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C84"/>
                </a:solidFill>
                <a:latin typeface="Segoe UI"/>
              </a:rPr>
              <a:t>Admin Command Centre — civic health, SLA and escalations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486503" y="3924424"/>
            <a:ext cx="3218688" cy="20391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7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7416" name="Picture 17415" descr="dep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2079" y="3942712"/>
            <a:ext cx="3460783" cy="2162989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4559655" y="6160005"/>
            <a:ext cx="3145536" cy="27432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dirty="0">
                <a:solidFill>
                  <a:srgbClr val="6B7C84"/>
                </a:solidFill>
                <a:latin typeface="Segoe UI"/>
              </a:rPr>
              <a:t>Department operations — priority queue and field work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7997799" y="3924424"/>
            <a:ext cx="3218688" cy="20391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7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7419" name="Picture 17418" descr="adminm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1045" y="3965503"/>
            <a:ext cx="3306070" cy="2066294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8375827" y="6160005"/>
            <a:ext cx="3145536" cy="27432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C84"/>
                </a:solidFill>
                <a:latin typeface="Segoe UI"/>
              </a:rPr>
              <a:t>City-wide civic map — hotspot clustering by ward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274320"/>
            <a:ext cx="8138160" cy="713232"/>
          </a:xfrm>
        </p:spPr>
        <p:txBody>
          <a:bodyPr wrap="square"/>
          <a:lstStyle/>
          <a:p>
            <a:pPr algn="ctr" eaLnBrk="1" hangingPunct="1"/>
            <a:r>
              <a:rPr sz="3600" b="1" dirty="0">
                <a:solidFill>
                  <a:srgbClr val="142A3D"/>
                </a:solidFill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22307" y="227269"/>
            <a:ext cx="142361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TEAM</a:t>
            </a:r>
          </a:p>
          <a:p>
            <a:pPr algn="ctr"/>
            <a:r>
              <a:rPr lang="en-US" sz="1600" b="1" dirty="0"/>
              <a:t>FUTURE</a:t>
            </a:r>
          </a:p>
          <a:p>
            <a:pPr algn="ctr"/>
            <a:r>
              <a:rPr lang="en-US" sz="1600" b="1" dirty="0"/>
              <a:t>MINDS</a:t>
            </a:r>
            <a:endParaRPr lang="en-IN" sz="1600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88720"/>
            <a:ext cx="11457432" cy="475488"/>
          </a:xfrm>
          <a:prstGeom prst="roundRect">
            <a:avLst>
              <a:gd name="adj" fmla="val 5000"/>
            </a:avLst>
          </a:prstGeom>
          <a:solidFill>
            <a:srgbClr val="F5F7F6"/>
          </a:solidFill>
          <a:ln w="12700">
            <a:solidFill>
              <a:srgbClr val="3E5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/>
          </a:p>
        </p:txBody>
      </p:sp>
      <p:sp>
        <p:nvSpPr>
          <p:cNvPr id="17411" name="Rectangle 17410"/>
          <p:cNvSpPr/>
          <p:nvPr/>
        </p:nvSpPr>
        <p:spPr>
          <a:xfrm>
            <a:off x="365760" y="1188720"/>
            <a:ext cx="50292" cy="475488"/>
          </a:xfrm>
          <a:prstGeom prst="rect">
            <a:avLst/>
          </a:prstGeom>
          <a:solidFill>
            <a:srgbClr val="3E5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/>
          </a:p>
        </p:txBody>
      </p:sp>
      <p:sp>
        <p:nvSpPr>
          <p:cNvPr id="17412" name="TextBox 17411"/>
          <p:cNvSpPr txBox="1"/>
          <p:nvPr/>
        </p:nvSpPr>
        <p:spPr>
          <a:xfrm>
            <a:off x="548640" y="1284887"/>
            <a:ext cx="11128248" cy="28315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5158"/>
                </a:solidFill>
                <a:latin typeface="Segoe UI"/>
              </a:rPr>
              <a:t>Every claim in this deck is sourced.</a:t>
            </a:r>
            <a:r>
              <a:rPr sz="1400" b="0" i="0">
                <a:solidFill>
                  <a:srgbClr val="101A22"/>
                </a:solidFill>
                <a:latin typeface="Segoe UI"/>
              </a:rPr>
              <a:t>  Government and product documentation first; peer-reviewed research for anything contested.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65760" y="1792224"/>
            <a:ext cx="3685032" cy="3127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/>
          </a:p>
        </p:txBody>
      </p:sp>
      <p:sp>
        <p:nvSpPr>
          <p:cNvPr id="17414" name="Rectangle 17413"/>
          <p:cNvSpPr/>
          <p:nvPr/>
        </p:nvSpPr>
        <p:spPr>
          <a:xfrm>
            <a:off x="365760" y="1792224"/>
            <a:ext cx="3685032" cy="274320"/>
          </a:xfrm>
          <a:prstGeom prst="rect">
            <a:avLst/>
          </a:prstGeom>
          <a:solidFill>
            <a:srgbClr val="EA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/>
          </a:p>
        </p:txBody>
      </p:sp>
      <p:sp>
        <p:nvSpPr>
          <p:cNvPr id="17415" name="TextBox 17414"/>
          <p:cNvSpPr txBox="1"/>
          <p:nvPr/>
        </p:nvSpPr>
        <p:spPr>
          <a:xfrm>
            <a:off x="475488" y="1833372"/>
            <a:ext cx="3465576" cy="175433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3FA8"/>
                </a:solidFill>
                <a:latin typeface="Segoe UI"/>
              </a:rPr>
              <a:t>TIER 1 — GOVERNMENT &amp; PRODUCT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75488" y="2139696"/>
            <a:ext cx="3465576" cy="2696636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 dirty="0">
                <a:solidFill>
                  <a:srgbClr val="9BAAB0"/>
                </a:solidFill>
                <a:latin typeface="Segoe UI"/>
              </a:rPr>
              <a:t>•  </a:t>
            </a:r>
            <a:r>
              <a:rPr sz="1000" b="1" i="0" dirty="0" err="1">
                <a:solidFill>
                  <a:srgbClr val="101A22"/>
                </a:solidFill>
                <a:latin typeface="Segoe UI"/>
              </a:rPr>
              <a:t>GovTech</a:t>
            </a:r>
            <a:r>
              <a:rPr sz="1000" b="1" i="0" dirty="0">
                <a:solidFill>
                  <a:srgbClr val="101A22"/>
                </a:solidFill>
                <a:latin typeface="Segoe UI"/>
              </a:rPr>
              <a:t> Singapore, </a:t>
            </a:r>
            <a:r>
              <a:rPr sz="1000" b="1" i="0" dirty="0" err="1">
                <a:solidFill>
                  <a:srgbClr val="101A22"/>
                </a:solidFill>
                <a:latin typeface="Segoe UI"/>
              </a:rPr>
              <a:t>OneService</a:t>
            </a:r>
            <a:r>
              <a:rPr sz="1000" b="1" i="0" dirty="0">
                <a:solidFill>
                  <a:srgbClr val="101A22"/>
                </a:solidFill>
                <a:latin typeface="Segoe UI"/>
              </a:rPr>
              <a:t> chatbot — </a:t>
            </a:r>
            <a:r>
              <a:rPr sz="1000" b="0" i="0" dirty="0">
                <a:solidFill>
                  <a:srgbClr val="3E5158"/>
                </a:solidFill>
                <a:latin typeface="Segoe UI"/>
              </a:rPr>
              <a:t>publishes ~80% case-type and ~85% routing accuracy; sets an honest ceiling for AI routing claims.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 dirty="0">
                <a:solidFill>
                  <a:srgbClr val="9BAAB0"/>
                </a:solidFill>
                <a:latin typeface="Segoe UI"/>
              </a:rPr>
              <a:t>•  </a:t>
            </a:r>
            <a:r>
              <a:rPr sz="1000" b="1" i="0" dirty="0">
                <a:solidFill>
                  <a:srgbClr val="101A22"/>
                </a:solidFill>
                <a:latin typeface="Segoe UI"/>
              </a:rPr>
              <a:t>DARPG, CPGRAMS / pgportal.gov.in — </a:t>
            </a:r>
            <a:r>
              <a:rPr sz="1000" b="0" i="0" dirty="0">
                <a:solidFill>
                  <a:srgbClr val="3E5158"/>
                </a:solidFill>
                <a:latin typeface="Segoe UI"/>
              </a:rPr>
              <a:t>IGMS already does spam, bulk and repetitive-grievance detection and topic clustering nationally.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 dirty="0">
                <a:solidFill>
                  <a:srgbClr val="9BAAB0"/>
                </a:solidFill>
                <a:latin typeface="Segoe UI"/>
              </a:rPr>
              <a:t>•  </a:t>
            </a:r>
            <a:r>
              <a:rPr sz="1000" b="1" i="0" dirty="0" err="1">
                <a:solidFill>
                  <a:srgbClr val="101A22"/>
                </a:solidFill>
                <a:latin typeface="Segoe UI"/>
              </a:rPr>
              <a:t>Swachhata-MoHUA</a:t>
            </a:r>
            <a:r>
              <a:rPr sz="1000" b="1" i="0" dirty="0">
                <a:solidFill>
                  <a:srgbClr val="101A22"/>
                </a:solidFill>
                <a:latin typeface="Segoe UI"/>
              </a:rPr>
              <a:t> listing (</a:t>
            </a:r>
            <a:r>
              <a:rPr sz="1000" b="1" i="0" dirty="0" err="1">
                <a:solidFill>
                  <a:srgbClr val="101A22"/>
                </a:solidFill>
                <a:latin typeface="Segoe UI"/>
              </a:rPr>
              <a:t>Janaagraha</a:t>
            </a:r>
            <a:r>
              <a:rPr sz="1000" b="1" i="0" dirty="0">
                <a:solidFill>
                  <a:srgbClr val="101A22"/>
                </a:solidFill>
                <a:latin typeface="Segoe UI"/>
              </a:rPr>
              <a:t>, v3.6.47, Apr 2025) — </a:t>
            </a:r>
            <a:r>
              <a:rPr sz="1000" b="0" i="0" dirty="0">
                <a:solidFill>
                  <a:srgbClr val="3E5158"/>
                </a:solidFill>
                <a:latin typeface="Segoe UI"/>
              </a:rPr>
              <a:t>geotagged capture, vote-up, resolution images, reopen. The India baseline.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 dirty="0">
                <a:solidFill>
                  <a:srgbClr val="9BAAB0"/>
                </a:solidFill>
                <a:latin typeface="Segoe UI"/>
              </a:rPr>
              <a:t>•  </a:t>
            </a:r>
            <a:r>
              <a:rPr sz="1000" b="1" i="0" dirty="0">
                <a:solidFill>
                  <a:srgbClr val="101A22"/>
                </a:solidFill>
                <a:latin typeface="Segoe UI"/>
              </a:rPr>
              <a:t>City of Chicago CDOT, Pothole Repairs — </a:t>
            </a:r>
            <a:r>
              <a:rPr sz="1000" b="0" i="0" dirty="0">
                <a:solidFill>
                  <a:srgbClr val="3E5158"/>
                </a:solidFill>
                <a:latin typeface="Segoe UI"/>
              </a:rPr>
              <a:t>daily 311 map drives crew routes; crews fill every pothole on the block.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 dirty="0">
                <a:solidFill>
                  <a:srgbClr val="9BAAB0"/>
                </a:solidFill>
                <a:latin typeface="Segoe UI"/>
              </a:rPr>
              <a:t>•  </a:t>
            </a:r>
            <a:r>
              <a:rPr sz="1000" b="1" i="0" dirty="0">
                <a:solidFill>
                  <a:srgbClr val="101A22"/>
                </a:solidFill>
                <a:latin typeface="Segoe UI"/>
              </a:rPr>
              <a:t>NYC Council Int 0744-2024 — </a:t>
            </a:r>
            <a:r>
              <a:rPr sz="1000" b="0" i="0" dirty="0">
                <a:solidFill>
                  <a:srgbClr val="3E5158"/>
                </a:solidFill>
                <a:latin typeface="Segoe UI"/>
              </a:rPr>
              <a:t>would bar closing 311 requests solely as duplicates.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 dirty="0">
                <a:solidFill>
                  <a:srgbClr val="9BAAB0"/>
                </a:solidFill>
                <a:latin typeface="Segoe UI"/>
              </a:rPr>
              <a:t>•  </a:t>
            </a:r>
            <a:r>
              <a:rPr sz="1000" b="1" i="0" dirty="0">
                <a:solidFill>
                  <a:srgbClr val="101A22"/>
                </a:solidFill>
                <a:latin typeface="Segoe UI"/>
              </a:rPr>
              <a:t>Open311 </a:t>
            </a:r>
            <a:r>
              <a:rPr sz="1000" b="1" i="0" dirty="0" err="1">
                <a:solidFill>
                  <a:srgbClr val="101A22"/>
                </a:solidFill>
                <a:latin typeface="Segoe UI"/>
              </a:rPr>
              <a:t>GeoReport</a:t>
            </a:r>
            <a:r>
              <a:rPr sz="1000" b="1" i="0" dirty="0">
                <a:solidFill>
                  <a:srgbClr val="101A22"/>
                </a:solidFill>
                <a:latin typeface="Segoe UI"/>
              </a:rPr>
              <a:t> v2 — </a:t>
            </a:r>
            <a:r>
              <a:rPr sz="1000" b="0" i="0" dirty="0">
                <a:solidFill>
                  <a:srgbClr val="3E5158"/>
                </a:solidFill>
                <a:latin typeface="Segoe UI"/>
              </a:rPr>
              <a:t>the interoperability standard we target.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251960" y="1792224"/>
            <a:ext cx="3685032" cy="3127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/>
          </a:p>
        </p:txBody>
      </p:sp>
      <p:sp>
        <p:nvSpPr>
          <p:cNvPr id="17418" name="Rectangle 17417"/>
          <p:cNvSpPr/>
          <p:nvPr/>
        </p:nvSpPr>
        <p:spPr>
          <a:xfrm>
            <a:off x="4251960" y="1792224"/>
            <a:ext cx="3685032" cy="274320"/>
          </a:xfrm>
          <a:prstGeom prst="rect">
            <a:avLst/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/>
          </a:p>
        </p:txBody>
      </p:sp>
      <p:sp>
        <p:nvSpPr>
          <p:cNvPr id="17419" name="TextBox 17418"/>
          <p:cNvSpPr txBox="1"/>
          <p:nvPr/>
        </p:nvSpPr>
        <p:spPr>
          <a:xfrm>
            <a:off x="4361688" y="1833372"/>
            <a:ext cx="3465576" cy="175433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703A"/>
                </a:solidFill>
                <a:latin typeface="Segoe UI"/>
              </a:rPr>
              <a:t>TIER 2 — PEER-REVIEWED RESEARCH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361688" y="2139696"/>
            <a:ext cx="3465576" cy="248632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1000" b="1" i="0">
                <a:solidFill>
                  <a:srgbClr val="101A22"/>
                </a:solidFill>
                <a:latin typeface="Segoe UI"/>
              </a:rPr>
              <a:t>“A Cautionary Tail” (arXiv 1807.03860) — </a:t>
            </a:r>
            <a:r>
              <a:rPr sz="1000" b="0" i="0">
                <a:solidFill>
                  <a:srgbClr val="3E5158"/>
                </a:solidFill>
                <a:latin typeface="Segoe UI"/>
              </a:rPr>
              <a:t>a DC rat model validated on 311 data and then failed field inspection. Why we do not ship complaint-based prediction.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1000" b="1" i="0">
                <a:solidFill>
                  <a:srgbClr val="101A22"/>
                </a:solidFill>
                <a:latin typeface="Segoe UI"/>
              </a:rPr>
              <a:t>Kontokosta et al., equity in 311 reporting — </a:t>
            </a:r>
            <a:r>
              <a:rPr sz="1000" b="0" i="0">
                <a:solidFill>
                  <a:srgbClr val="3E5158"/>
                </a:solidFill>
                <a:latin typeface="Segoe UI"/>
              </a:rPr>
              <a:t>propensity to complain varies with income, language and civic engagement, so raw hotspots misallocate service.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1000" b="1" i="0">
                <a:solidFill>
                  <a:srgbClr val="101A22"/>
                </a:solidFill>
                <a:latin typeface="Segoe UI"/>
              </a:rPr>
              <a:t>“Estimating reporting bias in 311 complaint data”, Annals of Applied Statistics — </a:t>
            </a:r>
            <a:r>
              <a:rPr sz="1000" b="0" i="0">
                <a:solidFill>
                  <a:srgbClr val="3E5158"/>
                </a:solidFill>
                <a:latin typeface="Segoe UI"/>
              </a:rPr>
              <a:t>the correction method behind our Ward Reality Index.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1000" b="1" i="0">
                <a:solidFill>
                  <a:srgbClr val="101A22"/>
                </a:solidFill>
                <a:latin typeface="Segoe UI"/>
              </a:rPr>
              <a:t>Bevan &amp; Hood, Public Administration (2006) — </a:t>
            </a:r>
            <a:r>
              <a:rPr sz="1000" b="0" i="0">
                <a:solidFill>
                  <a:srgbClr val="3E5158"/>
                </a:solidFill>
                <a:latin typeface="Segoe UI"/>
              </a:rPr>
              <a:t>ranked public-sector targets get gamed; why we publish reasons, not a league table.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1000" b="1" i="0">
                <a:solidFill>
                  <a:srgbClr val="101A22"/>
                </a:solidFill>
                <a:latin typeface="Segoe UI"/>
              </a:rPr>
              <a:t>“Decide Madrid: A Critical Analysis”, Sustainability — </a:t>
            </a:r>
            <a:r>
              <a:rPr sz="1000" b="0" i="0">
                <a:solidFill>
                  <a:srgbClr val="3E5158"/>
                </a:solidFill>
                <a:latin typeface="Segoe UI"/>
              </a:rPr>
              <a:t>participation collapses without a closed feedback loop.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8138160" y="1792224"/>
            <a:ext cx="3685032" cy="3127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/>
          </a:p>
        </p:txBody>
      </p:sp>
      <p:sp>
        <p:nvSpPr>
          <p:cNvPr id="17422" name="Rectangle 17421"/>
          <p:cNvSpPr/>
          <p:nvPr/>
        </p:nvSpPr>
        <p:spPr>
          <a:xfrm>
            <a:off x="8138160" y="1792224"/>
            <a:ext cx="3685032" cy="274320"/>
          </a:xfrm>
          <a:prstGeom prst="rect">
            <a:avLst/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/>
          </a:p>
        </p:txBody>
      </p:sp>
      <p:sp>
        <p:nvSpPr>
          <p:cNvPr id="17423" name="TextBox 17422"/>
          <p:cNvSpPr txBox="1"/>
          <p:nvPr/>
        </p:nvSpPr>
        <p:spPr>
          <a:xfrm>
            <a:off x="8247888" y="1833372"/>
            <a:ext cx="3465576" cy="175433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35A12"/>
                </a:solidFill>
                <a:latin typeface="Segoe UI"/>
              </a:rPr>
              <a:t>TIER 3–4 — INDUSTRY &amp; PRESS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247888" y="2139696"/>
            <a:ext cx="3465576" cy="248632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1000" b="1" i="0">
                <a:solidFill>
                  <a:srgbClr val="101A22"/>
                </a:solidFill>
                <a:latin typeface="Segoe UI"/>
              </a:rPr>
              <a:t>ThePrint, 2 July 2026 — </a:t>
            </a:r>
            <a:r>
              <a:rPr sz="1000" b="0" i="0">
                <a:solidFill>
                  <a:srgbClr val="3E5158"/>
                </a:solidFill>
                <a:latin typeface="Segoe UI"/>
              </a:rPr>
              <a:t>Gurugram MCG sacked a sanitation inspector for closing grievances with AI-generated photos; a colleague spoofed GPS. Our problem statement.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1000" b="1" i="0">
                <a:solidFill>
                  <a:srgbClr val="101A22"/>
                </a:solidFill>
                <a:latin typeface="Segoe UI"/>
              </a:rPr>
              <a:t>SocietyWorks, FixMyStreet Pro — </a:t>
            </a:r>
            <a:r>
              <a:rPr sz="1000" b="0" i="0">
                <a:solidFill>
                  <a:srgbClr val="3E5158"/>
                </a:solidFill>
                <a:latin typeface="Segoe UI"/>
              </a:rPr>
              <a:t>council asset layers: the citizen taps the actual lamp column and its reference auto-fills.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1000" b="1" i="0">
                <a:solidFill>
                  <a:srgbClr val="101A22"/>
                </a:solidFill>
                <a:latin typeface="Segoe UI"/>
              </a:rPr>
              <a:t>Truepic Vision — </a:t>
            </a:r>
            <a:r>
              <a:rPr sz="1000" b="0" i="0">
                <a:solidFill>
                  <a:srgbClr val="3E5158"/>
                </a:solidFill>
                <a:latin typeface="Segoe UI"/>
              </a:rPr>
              <a:t>controlled capture in insurance: rooted-device, GPS-spoof, screen-recapture and reused-image detection.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1000" b="1" i="0">
                <a:solidFill>
                  <a:srgbClr val="101A22"/>
                </a:solidFill>
                <a:latin typeface="Segoe UI"/>
              </a:rPr>
              <a:t>The Tribune — </a:t>
            </a:r>
            <a:r>
              <a:rPr sz="1000" b="0" i="0">
                <a:solidFill>
                  <a:srgbClr val="3E5158"/>
                </a:solidFill>
                <a:latin typeface="Segoe UI"/>
              </a:rPr>
              <a:t>Chandigarh MC raised road defect liability from one year to three; and QCI Swachh Survekshan verifiers arrested over an alleged bribe.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1000" b="1" i="0">
                <a:solidFill>
                  <a:srgbClr val="101A22"/>
                </a:solidFill>
                <a:latin typeface="Segoe UI"/>
              </a:rPr>
              <a:t>Deccan Herald — </a:t>
            </a:r>
            <a:r>
              <a:rPr sz="1000" b="0" i="0">
                <a:solidFill>
                  <a:srgbClr val="3E5158"/>
                </a:solidFill>
                <a:latin typeface="Segoe UI"/>
              </a:rPr>
              <a:t>BBMP's Sahaaya pulled from app stores, stranding citizens.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365760" y="5047488"/>
            <a:ext cx="11457432" cy="1225296"/>
          </a:xfrm>
          <a:prstGeom prst="roundRect">
            <a:avLst>
              <a:gd name="adj" fmla="val 5000"/>
            </a:avLst>
          </a:prstGeom>
          <a:solidFill>
            <a:srgbClr val="FBEBE7"/>
          </a:solidFill>
          <a:ln w="12700">
            <a:solidFill>
              <a:srgbClr val="B3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/>
          </a:p>
        </p:txBody>
      </p:sp>
      <p:sp>
        <p:nvSpPr>
          <p:cNvPr id="17426" name="Rectangle 17425"/>
          <p:cNvSpPr/>
          <p:nvPr/>
        </p:nvSpPr>
        <p:spPr>
          <a:xfrm>
            <a:off x="365760" y="5047488"/>
            <a:ext cx="50292" cy="1225296"/>
          </a:xfrm>
          <a:prstGeom prst="rect">
            <a:avLst/>
          </a:prstGeom>
          <a:solidFill>
            <a:srgbClr val="B33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/>
          </a:p>
        </p:txBody>
      </p:sp>
      <p:sp>
        <p:nvSpPr>
          <p:cNvPr id="17427" name="TextBox 17426"/>
          <p:cNvSpPr txBox="1"/>
          <p:nvPr/>
        </p:nvSpPr>
        <p:spPr>
          <a:xfrm>
            <a:off x="548640" y="5372366"/>
            <a:ext cx="11128248" cy="57554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33A1E"/>
                </a:solidFill>
                <a:latin typeface="Segoe UI"/>
              </a:rPr>
              <a:t>Where the evidence was not good enough, we say so.</a:t>
            </a:r>
            <a:r>
              <a:rPr sz="1050" b="0" i="0">
                <a:solidFill>
                  <a:srgbClr val="101A22"/>
                </a:solidFill>
                <a:latin typeface="Segoe UI"/>
              </a:rPr>
              <a:t>  Swachhata's per-category SLA hours are widely repeated but we could not confirm them against an official MoHUA source; a CAG finding on Swachh Survekshan self-reported data appeared only in an unreliable aggregator, so it is excluded. Vendor performance figures are treated as capability evidence, never as measured outcomes.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7510</TotalTime>
  <Words>974</Words>
  <Application>Microsoft Office PowerPoint</Application>
  <PresentationFormat>Widescreen</PresentationFormat>
  <Paragraphs>93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Segoe UI</vt:lpstr>
      <vt:lpstr>Times New Roman</vt:lpstr>
      <vt:lpstr>TradeGothic</vt:lpstr>
      <vt:lpstr>Office Theme</vt:lpstr>
      <vt:lpstr>SMART INDIA HACKATHON 2026</vt:lpstr>
      <vt:lpstr>SMART INDIA HACKATHON 2026</vt:lpstr>
      <vt:lpstr>IDEA TITLE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Devbrat Sharma</cp:lastModifiedBy>
  <cp:revision>158</cp:revision>
  <dcterms:created xsi:type="dcterms:W3CDTF">2013-12-12T18:46:50Z</dcterms:created>
  <dcterms:modified xsi:type="dcterms:W3CDTF">2026-09-02T06:54:36Z</dcterms:modified>
  <cp:category/>
</cp:coreProperties>
</file>