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592" y="6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548640" y="1005840"/>
            <a:ext cx="5669280" cy="384048"/>
          </a:xfrm>
        </p:spPr>
        <p:txBody>
          <a:bodyPr/>
          <a:lstStyle/>
          <a:p>
            <a:pPr algn="l">
              <a:defRPr/>
            </a:pPr>
            <a:r>
              <a:rPr sz="1300" b="1" i="0">
                <a:solidFill>
                  <a:srgbClr val="6B7C84"/>
                </a:solidFill>
                <a:latin typeface="Segoe UI"/>
              </a:rPr>
              <a:t>TITLE PAGE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548640" y="310896"/>
            <a:ext cx="8778240" cy="731520"/>
          </a:xfrm>
        </p:spPr>
        <p:txBody>
          <a:bodyPr/>
          <a:lstStyle/>
          <a:p>
            <a:pPr algn="l">
              <a:defRPr/>
            </a:pPr>
            <a:r>
              <a:rPr sz="2800" b="1">
                <a:solidFill>
                  <a:srgbClr val="142A3D"/>
                </a:solidFill>
              </a:rPr>
              <a:t>SMART INDIA HACKATHON 2026</a:t>
            </a:r>
            <a:endParaRPr lang="en-IN" sz="43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8640" y="1481328"/>
            <a:ext cx="5760720" cy="1417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100"/>
              </a:spcAft>
              <a:defRPr/>
            </a:pPr>
            <a:r>
              <a:rPr sz="4900" b="1" i="0">
                <a:solidFill>
                  <a:srgbClr val="142A3D"/>
                </a:solidFill>
                <a:latin typeface="Segoe UI"/>
              </a:rPr>
              <a:t>JAN-SEVA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defRPr/>
            </a:pPr>
            <a:r>
              <a:rPr sz="1400" b="0" i="0">
                <a:solidFill>
                  <a:srgbClr val="B35A12"/>
                </a:solidFill>
                <a:latin typeface="Segoe UI"/>
              </a:rPr>
              <a:t>जन-सेवा  ·  Aapki Samasya, Hamari Jimmedari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400" b="0" i="0">
                <a:solidFill>
                  <a:srgbClr val="3E5158"/>
                </a:solidFill>
                <a:latin typeface="Segoe UI"/>
              </a:rPr>
              <a:t>Every citizen report becomes an evidence-bound job against a named piece of city infrastructure.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3063240"/>
            <a:ext cx="5760720" cy="2395728"/>
          </a:xfrm>
          <a:prstGeom prst="roundRect">
            <a:avLst>
              <a:gd name="adj" fmla="val 4000"/>
            </a:avLst>
          </a:prstGeom>
          <a:solidFill>
            <a:srgbClr val="F5F7F6"/>
          </a:solidFill>
          <a:ln w="12700">
            <a:solidFill>
              <a:srgbClr val="D7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39" name="TextBox 38"/>
          <p:cNvSpPr txBox="1"/>
          <p:nvPr/>
        </p:nvSpPr>
        <p:spPr>
          <a:xfrm>
            <a:off x="713232" y="3200400"/>
            <a:ext cx="5449824" cy="213969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defRPr/>
            </a:pPr>
            <a:r>
              <a:rPr sz="1150" b="1" i="0">
                <a:solidFill>
                  <a:srgbClr val="6B7C84"/>
                </a:solidFill>
                <a:latin typeface="Segoe UI"/>
              </a:rPr>
              <a:t>Problem Statement ID  </a:t>
            </a:r>
            <a:r>
              <a:rPr sz="1250" b="1" i="0">
                <a:solidFill>
                  <a:srgbClr val="101A22"/>
                </a:solidFill>
                <a:latin typeface="Segoe UI"/>
              </a:rPr>
              <a:t>SIH018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defRPr/>
            </a:pPr>
            <a:r>
              <a:rPr sz="1150" b="1" i="0">
                <a:solidFill>
                  <a:srgbClr val="6B7C84"/>
                </a:solidFill>
                <a:latin typeface="Segoe UI"/>
              </a:rPr>
              <a:t>Problem Statement Title  </a:t>
            </a:r>
            <a:r>
              <a:rPr sz="1250" b="1" i="0">
                <a:solidFill>
                  <a:srgbClr val="101A22"/>
                </a:solidFill>
                <a:latin typeface="Segoe UI"/>
              </a:rPr>
              <a:t>Smart Civic Issue Reporting Platform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defRPr/>
            </a:pPr>
            <a:r>
              <a:rPr sz="1150" b="1" i="0">
                <a:solidFill>
                  <a:srgbClr val="6B7C84"/>
                </a:solidFill>
                <a:latin typeface="Segoe UI"/>
              </a:rPr>
              <a:t>Theme  </a:t>
            </a:r>
            <a:r>
              <a:rPr sz="1250" b="1" i="0">
                <a:solidFill>
                  <a:srgbClr val="101A22"/>
                </a:solidFill>
                <a:latin typeface="Segoe UI"/>
              </a:rPr>
              <a:t>Smart Automation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defRPr/>
            </a:pPr>
            <a:r>
              <a:rPr sz="1150" b="1" i="0">
                <a:solidFill>
                  <a:srgbClr val="6B7C84"/>
                </a:solidFill>
                <a:latin typeface="Segoe UI"/>
              </a:rPr>
              <a:t>PS Category  </a:t>
            </a:r>
            <a:r>
              <a:rPr sz="1250" b="1" i="0">
                <a:solidFill>
                  <a:srgbClr val="101A22"/>
                </a:solidFill>
                <a:latin typeface="Segoe UI"/>
              </a:rPr>
              <a:t>Software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defRPr/>
            </a:pPr>
            <a:r>
              <a:rPr sz="1150" b="1" i="0">
                <a:solidFill>
                  <a:srgbClr val="6B7C84"/>
                </a:solidFill>
                <a:latin typeface="Segoe UI"/>
              </a:rPr>
              <a:t>Team Name  </a:t>
            </a:r>
            <a:r>
              <a:rPr sz="1250" b="1" i="0">
                <a:solidFill>
                  <a:srgbClr val="101A22"/>
                </a:solidFill>
                <a:latin typeface="Segoe UI"/>
              </a:rPr>
              <a:t>Future Minds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defRPr/>
            </a:pPr>
            <a:r>
              <a:rPr sz="1150" b="1" i="0">
                <a:solidFill>
                  <a:srgbClr val="6B7C84"/>
                </a:solidFill>
                <a:latin typeface="Segoe UI"/>
              </a:rPr>
              <a:t>Team ID  </a:t>
            </a:r>
            <a:r>
              <a:rPr sz="1250" b="1" i="0">
                <a:solidFill>
                  <a:srgbClr val="101A22"/>
                </a:solidFill>
                <a:latin typeface="Segoe UI"/>
              </a:rPr>
              <a:t>&lt;Enter Team ID&gt;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0216" y="1426464"/>
            <a:ext cx="5458968" cy="32115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7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pic>
        <p:nvPicPr>
          <p:cNvPr id="41" name="Picture 40" descr="lan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481328"/>
            <a:ext cx="5349240" cy="310181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355080" y="4692872"/>
            <a:ext cx="534924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 i="0">
                <a:solidFill>
                  <a:srgbClr val="12703A"/>
                </a:solidFill>
                <a:latin typeface="Segoe UI"/>
              </a:rPr>
              <a:t>Working prototype — not a mockup.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3E5158"/>
                </a:solidFill>
                <a:latin typeface="Segoe UI"/>
              </a:rPr>
              <a:t>Citizen portal, five department portals and an Admin Command Centre — built and running.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669280"/>
            <a:ext cx="1847088" cy="402336"/>
          </a:xfrm>
          <a:prstGeom prst="roundRect">
            <a:avLst>
              <a:gd name="adj" fmla="val 28000"/>
            </a:avLst>
          </a:prstGeom>
          <a:solidFill>
            <a:srgbClr val="E9F7EF"/>
          </a:solidFill>
          <a:ln w="12700">
            <a:solidFill>
              <a:srgbClr val="127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44" name="TextBox 43"/>
          <p:cNvSpPr txBox="1"/>
          <p:nvPr/>
        </p:nvSpPr>
        <p:spPr>
          <a:xfrm>
            <a:off x="548640" y="5669280"/>
            <a:ext cx="1847088" cy="402336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1" i="0">
                <a:solidFill>
                  <a:srgbClr val="12703A"/>
                </a:solidFill>
                <a:latin typeface="Segoe UI"/>
              </a:rPr>
              <a:t>Proof of Repair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05456" y="5669280"/>
            <a:ext cx="1847088" cy="402336"/>
          </a:xfrm>
          <a:prstGeom prst="roundRect">
            <a:avLst>
              <a:gd name="adj" fmla="val 28000"/>
            </a:avLst>
          </a:prstGeom>
          <a:solidFill>
            <a:srgbClr val="EAF0FC"/>
          </a:solidFill>
          <a:ln w="12700">
            <a:solidFill>
              <a:srgbClr val="1E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2505456" y="5669280"/>
            <a:ext cx="1847088" cy="402336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1" i="0">
                <a:solidFill>
                  <a:srgbClr val="1E3FA8"/>
                </a:solidFill>
                <a:latin typeface="Segoe UI"/>
              </a:rPr>
              <a:t>Civic Asset Memory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62272" y="5669280"/>
            <a:ext cx="1847088" cy="402336"/>
          </a:xfrm>
          <a:prstGeom prst="roundRect">
            <a:avLst>
              <a:gd name="adj" fmla="val 28000"/>
            </a:avLst>
          </a:prstGeom>
          <a:solidFill>
            <a:srgbClr val="FDF1E8"/>
          </a:solidFill>
          <a:ln w="12700">
            <a:solidFill>
              <a:srgbClr val="B35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4462272" y="5669280"/>
            <a:ext cx="1847088" cy="402336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1" i="0">
                <a:solidFill>
                  <a:srgbClr val="B35A12"/>
                </a:solidFill>
                <a:latin typeface="Segoe UI"/>
              </a:rPr>
              <a:t>One-Trip Work Card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45920" y="274320"/>
            <a:ext cx="8138160" cy="713232"/>
          </a:xfrm>
        </p:spPr>
        <p:txBody>
          <a:bodyPr wrap="square"/>
          <a:lstStyle/>
          <a:p>
            <a:pPr eaLnBrk="1" hangingPunct="1" algn="ctr">
              <a:defRPr/>
            </a:pPr>
            <a:r>
              <a:rPr sz="3000" b="1">
                <a:solidFill>
                  <a:srgbClr val="142A3D"/>
                </a:solidFill>
              </a:rPr>
              <a:t>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 dirty="0"/>
              <a:t>Team Future Minds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365760" y="1188720"/>
            <a:ext cx="11457432" cy="566928"/>
          </a:xfrm>
          <a:prstGeom prst="roundRect">
            <a:avLst>
              <a:gd name="adj" fmla="val 5000"/>
            </a:avLst>
          </a:prstGeom>
          <a:solidFill>
            <a:srgbClr val="EAF0FC"/>
          </a:solidFill>
          <a:ln w="12700">
            <a:solidFill>
              <a:srgbClr val="1E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5363" name="Rectangle 15362"/>
          <p:cNvSpPr/>
          <p:nvPr/>
        </p:nvSpPr>
        <p:spPr>
          <a:xfrm>
            <a:off x="365760" y="1188720"/>
            <a:ext cx="50292" cy="566928"/>
          </a:xfrm>
          <a:prstGeom prst="rect">
            <a:avLst/>
          </a:prstGeom>
          <a:solidFill>
            <a:srgbClr val="1E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5364" name="TextBox 15363"/>
          <p:cNvSpPr txBox="1"/>
          <p:nvPr/>
        </p:nvSpPr>
        <p:spPr>
          <a:xfrm>
            <a:off x="548640" y="1188720"/>
            <a:ext cx="11128248" cy="566928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550" b="1" i="0">
                <a:solidFill>
                  <a:srgbClr val="1E3FA8"/>
                </a:solidFill>
                <a:latin typeface="Segoe UI"/>
              </a:rPr>
              <a:t>Proposed Solution —</a:t>
            </a:r>
            <a:r>
              <a:rPr sz="1450" b="0" i="0">
                <a:solidFill>
                  <a:srgbClr val="101A22"/>
                </a:solidFill>
                <a:latin typeface="Segoe UI"/>
              </a:rPr>
              <a:t>  India already solved civic reporting. Nobody verifies the repair. JAN-SEVA does.</a:t>
            </a:r>
          </a:p>
        </p:txBody>
      </p:sp>
      <p:pic>
        <p:nvPicPr>
          <p:cNvPr id="15365" name="Picture 15364" descr="g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727" y="1865376"/>
            <a:ext cx="11064240" cy="3428560"/>
          </a:xfrm>
          <a:prstGeom prst="rect">
            <a:avLst/>
          </a:prstGeom>
        </p:spPr>
      </p:pic>
      <p:sp>
        <p:nvSpPr>
          <p:cNvPr id="15366" name="Rounded Rectangle 15365"/>
          <p:cNvSpPr/>
          <p:nvPr/>
        </p:nvSpPr>
        <p:spPr>
          <a:xfrm>
            <a:off x="365760" y="5412808"/>
            <a:ext cx="3685032" cy="859975"/>
          </a:xfrm>
          <a:prstGeom prst="roundRect">
            <a:avLst>
              <a:gd name="adj" fmla="val 7000"/>
            </a:avLst>
          </a:prstGeom>
          <a:solidFill>
            <a:srgbClr val="E9F7EF"/>
          </a:solidFill>
          <a:ln w="12700">
            <a:solidFill>
              <a:srgbClr val="127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5367" name="TextBox 15366"/>
          <p:cNvSpPr txBox="1"/>
          <p:nvPr/>
        </p:nvSpPr>
        <p:spPr>
          <a:xfrm>
            <a:off x="484632" y="5495104"/>
            <a:ext cx="3447288" cy="695383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50" b="1" i="0">
                <a:solidFill>
                  <a:srgbClr val="12703A"/>
                </a:solidFill>
                <a:latin typeface="Segoe UI"/>
              </a:rPr>
              <a:t>1  Proof of Repair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3E5158"/>
                </a:solidFill>
                <a:latin typeface="Segoe UI"/>
              </a:rPr>
              <a:t>Captured live in-app, at the location, on an un-spoofed device — and never reused.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4251960" y="5412808"/>
            <a:ext cx="3685032" cy="859975"/>
          </a:xfrm>
          <a:prstGeom prst="roundRect">
            <a:avLst>
              <a:gd name="adj" fmla="val 7000"/>
            </a:avLst>
          </a:prstGeom>
          <a:solidFill>
            <a:srgbClr val="EAF0FC"/>
          </a:solidFill>
          <a:ln w="12700">
            <a:solidFill>
              <a:srgbClr val="1E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5369" name="TextBox 15368"/>
          <p:cNvSpPr txBox="1"/>
          <p:nvPr/>
        </p:nvSpPr>
        <p:spPr>
          <a:xfrm>
            <a:off x="4370832" y="5495104"/>
            <a:ext cx="3447288" cy="695383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50" b="1" i="0">
                <a:solidFill>
                  <a:srgbClr val="1E3FA8"/>
                </a:solidFill>
                <a:latin typeface="Segoe UI"/>
              </a:rPr>
              <a:t>2  Civic Asset Memory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3E5158"/>
                </a:solidFill>
                <a:latin typeface="Segoe UI"/>
              </a:rPr>
              <a:t>Attached to a road segment, pole or drain. A repeat failure in the liability period is a warranty claim, not a new bill.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8138160" y="5412808"/>
            <a:ext cx="3685032" cy="859975"/>
          </a:xfrm>
          <a:prstGeom prst="roundRect">
            <a:avLst>
              <a:gd name="adj" fmla="val 7000"/>
            </a:avLst>
          </a:prstGeom>
          <a:solidFill>
            <a:srgbClr val="FDF1E8"/>
          </a:solidFill>
          <a:ln w="12700">
            <a:solidFill>
              <a:srgbClr val="B35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5371" name="TextBox 15370"/>
          <p:cNvSpPr txBox="1"/>
          <p:nvPr/>
        </p:nvSpPr>
        <p:spPr>
          <a:xfrm>
            <a:off x="8257032" y="5495104"/>
            <a:ext cx="3447288" cy="695383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50" b="1" i="0">
                <a:solidFill>
                  <a:srgbClr val="B35A12"/>
                </a:solidFill>
                <a:latin typeface="Segoe UI"/>
              </a:rPr>
              <a:t>3  One-Trip Work Card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3E5158"/>
                </a:solidFill>
                <a:latin typeface="Segoe UI"/>
              </a:rPr>
              <a:t>Same-skill jobs nearby are batched into one routed, offline visit. The crew drives once, not five times.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274320"/>
            <a:ext cx="8138160" cy="713232"/>
          </a:xfrm>
        </p:spPr>
        <p:txBody>
          <a:bodyPr wrap="square"/>
          <a:lstStyle/>
          <a:p>
            <a:pPr eaLnBrk="1" hangingPunct="1" algn="ctr">
              <a:defRPr/>
            </a:pPr>
            <a:r>
              <a:rPr sz="3000" b="1">
                <a:solidFill>
                  <a:srgbClr val="142A3D"/>
                </a:solidFill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 dirty="0"/>
              <a:t>Team Future Minds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707" y="1188720"/>
            <a:ext cx="11384280" cy="3458459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65760" y="4793483"/>
            <a:ext cx="5618988" cy="1479300"/>
          </a:xfrm>
          <a:prstGeom prst="roundRect">
            <a:avLst>
              <a:gd name="adj" fmla="val 5000"/>
            </a:avLst>
          </a:prstGeom>
          <a:solidFill>
            <a:srgbClr val="F5F7F6"/>
          </a:solidFill>
          <a:ln w="12700">
            <a:solidFill>
              <a:srgbClr val="D7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7412" name="TextBox 17411"/>
          <p:cNvSpPr txBox="1"/>
          <p:nvPr/>
        </p:nvSpPr>
        <p:spPr>
          <a:xfrm>
            <a:off x="502920" y="4884923"/>
            <a:ext cx="5344668" cy="12964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defRPr/>
            </a:pPr>
            <a:r>
              <a:rPr sz="1300" b="1" i="0">
                <a:solidFill>
                  <a:srgbClr val="12703A"/>
                </a:solidFill>
                <a:latin typeface="Segoe UI"/>
              </a:rPr>
              <a:t>Built and running today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defRPr/>
            </a:pPr>
            <a:r>
              <a:rPr sz="1100" b="0" i="0">
                <a:solidFill>
                  <a:srgbClr val="9BAAB0"/>
                </a:solidFill>
                <a:latin typeface="Segoe UI"/>
              </a:rPr>
              <a:t>•  </a:t>
            </a:r>
            <a:r>
              <a:rPr sz="1100" b="1" i="0">
                <a:solidFill>
                  <a:srgbClr val="101A22"/>
                </a:solidFill>
                <a:latin typeface="Segoe UI"/>
              </a:rPr>
              <a:t>Citizen, department and admin portals — </a:t>
            </a:r>
            <a:r>
              <a:rPr sz="1100" b="0" i="0">
                <a:solidFill>
                  <a:srgbClr val="3E5158"/>
                </a:solidFill>
                <a:latin typeface="Segoe UI"/>
              </a:rPr>
              <a:t>wizard, live tracking, SLA, escalation, audit trail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defRPr/>
            </a:pPr>
            <a:r>
              <a:rPr sz="1100" b="0" i="0">
                <a:solidFill>
                  <a:srgbClr val="9BAAB0"/>
                </a:solidFill>
                <a:latin typeface="Segoe UI"/>
              </a:rPr>
              <a:t>•  </a:t>
            </a:r>
            <a:r>
              <a:rPr sz="1100" b="1" i="0">
                <a:solidFill>
                  <a:srgbClr val="101A22"/>
                </a:solidFill>
                <a:latin typeface="Segoe UI"/>
              </a:rPr>
              <a:t>Offline sync queue — </a:t>
            </a:r>
            <a:r>
              <a:rPr sz="1100" b="0" i="0">
                <a:solidFill>
                  <a:srgbClr val="3E5158"/>
                </a:solidFill>
                <a:latin typeface="Segoe UI"/>
              </a:rPr>
              <a:t>ordered retry with backoff; no field note lost on weak signal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defRPr/>
            </a:pPr>
            <a:r>
              <a:rPr sz="1100" b="0" i="0">
                <a:solidFill>
                  <a:srgbClr val="9BAAB0"/>
                </a:solidFill>
                <a:latin typeface="Segoe UI"/>
              </a:rPr>
              <a:t>•  </a:t>
            </a:r>
            <a:r>
              <a:rPr sz="1100" b="1" i="0">
                <a:solidFill>
                  <a:srgbClr val="101A22"/>
                </a:solidFill>
                <a:latin typeface="Segoe UI"/>
              </a:rPr>
              <a:t>Privacy by type — </a:t>
            </a:r>
            <a:r>
              <a:rPr sz="1100" b="0" i="0">
                <a:solidFill>
                  <a:srgbClr val="3E5158"/>
                </a:solidFill>
                <a:latin typeface="Segoe UI"/>
              </a:rPr>
              <a:t>public view has no reporter field, so identity can’t leak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204204" y="4793483"/>
            <a:ext cx="5618988" cy="1479300"/>
          </a:xfrm>
          <a:prstGeom prst="roundRect">
            <a:avLst>
              <a:gd name="adj" fmla="val 5000"/>
            </a:avLst>
          </a:prstGeom>
          <a:solidFill>
            <a:srgbClr val="F5F7F6"/>
          </a:solidFill>
          <a:ln w="12700">
            <a:solidFill>
              <a:srgbClr val="D7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7414" name="TextBox 17413"/>
          <p:cNvSpPr txBox="1"/>
          <p:nvPr/>
        </p:nvSpPr>
        <p:spPr>
          <a:xfrm>
            <a:off x="6341364" y="4884923"/>
            <a:ext cx="5344668" cy="12964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defRPr/>
            </a:pPr>
            <a:r>
              <a:rPr sz="1300" b="1" i="0">
                <a:solidFill>
                  <a:srgbClr val="B35A12"/>
                </a:solidFill>
                <a:latin typeface="Segoe UI"/>
              </a:rPr>
              <a:t>What we still have to build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defRPr/>
            </a:pPr>
            <a:r>
              <a:rPr sz="1100" b="0" i="0">
                <a:solidFill>
                  <a:srgbClr val="9BAAB0"/>
                </a:solidFill>
                <a:latin typeface="Segoe UI"/>
              </a:rPr>
              <a:t>•  </a:t>
            </a:r>
            <a:r>
              <a:rPr sz="1100" b="1" i="0">
                <a:solidFill>
                  <a:srgbClr val="101A22"/>
                </a:solidFill>
                <a:latin typeface="Segoe UI"/>
              </a:rPr>
              <a:t>Server-side capture proof — </a:t>
            </a:r>
            <a:r>
              <a:rPr sz="1100" b="0" i="0">
                <a:solidFill>
                  <a:srgbClr val="3E5158"/>
                </a:solidFill>
                <a:latin typeface="Segoe UI"/>
              </a:rPr>
              <a:t>nonce, RFC 3161 timestamp, Play Integrity, mock-location check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defRPr/>
            </a:pPr>
            <a:r>
              <a:rPr sz="1100" b="0" i="0">
                <a:solidFill>
                  <a:srgbClr val="9BAAB0"/>
                </a:solidFill>
                <a:latin typeface="Segoe UI"/>
              </a:rPr>
              <a:t>•  </a:t>
            </a:r>
            <a:r>
              <a:rPr sz="1100" b="1" i="0">
                <a:solidFill>
                  <a:srgbClr val="101A22"/>
                </a:solidFill>
                <a:latin typeface="Segoe UI"/>
              </a:rPr>
              <a:t>Asset layer — </a:t>
            </a:r>
            <a:r>
              <a:rPr sz="1100" b="0" i="0">
                <a:solidFill>
                  <a:srgbClr val="3E5158"/>
                </a:solidFill>
                <a:latin typeface="Segoe UI"/>
              </a:rPr>
              <a:t>real geometry from ULB GIS, or OSM segments where none exists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defRPr/>
            </a:pPr>
            <a:r>
              <a:rPr sz="1100" b="0" i="0">
                <a:solidFill>
                  <a:srgbClr val="9BAAB0"/>
                </a:solidFill>
                <a:latin typeface="Segoe UI"/>
              </a:rPr>
              <a:t>•  </a:t>
            </a:r>
            <a:r>
              <a:rPr sz="1100" b="1" i="0">
                <a:solidFill>
                  <a:srgbClr val="101A22"/>
                </a:solidFill>
                <a:latin typeface="Segoe UI"/>
              </a:rPr>
              <a:t>Bhashini integration — </a:t>
            </a:r>
            <a:r>
              <a:rPr sz="1100" b="0" i="0">
                <a:solidFill>
                  <a:srgbClr val="3E5158"/>
                </a:solidFill>
                <a:latin typeface="Segoe UI"/>
              </a:rPr>
              <a:t>Hindi speech to a structured complaint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5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274320"/>
            <a:ext cx="8138160" cy="713232"/>
          </a:xfrm>
        </p:spPr>
        <p:txBody>
          <a:bodyPr wrap="square"/>
          <a:lstStyle/>
          <a:p>
            <a:pPr eaLnBrk="1" hangingPunct="1" algn="ctr">
              <a:defRPr/>
            </a:pPr>
            <a:r>
              <a:rPr sz="3000" b="1">
                <a:solidFill>
                  <a:srgbClr val="142A3D"/>
                </a:solidFill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35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 dirty="0"/>
              <a:t>Team Future Minds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88720"/>
            <a:ext cx="11457432" cy="548640"/>
          </a:xfrm>
          <a:prstGeom prst="roundRect">
            <a:avLst>
              <a:gd name="adj" fmla="val 5000"/>
            </a:avLst>
          </a:prstGeom>
          <a:solidFill>
            <a:srgbClr val="E9F7EF"/>
          </a:solidFill>
          <a:ln w="12700">
            <a:solidFill>
              <a:srgbClr val="127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7411" name="Rectangle 17410"/>
          <p:cNvSpPr/>
          <p:nvPr/>
        </p:nvSpPr>
        <p:spPr>
          <a:xfrm>
            <a:off x="365760" y="1188720"/>
            <a:ext cx="50292" cy="548640"/>
          </a:xfrm>
          <a:prstGeom prst="rect">
            <a:avLst/>
          </a:prstGeom>
          <a:solidFill>
            <a:srgbClr val="12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188720"/>
            <a:ext cx="11128248" cy="548640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400" b="1" i="0">
                <a:solidFill>
                  <a:srgbClr val="12703A"/>
                </a:solidFill>
                <a:latin typeface="Segoe UI"/>
              </a:rPr>
              <a:t>Feasibility is already demonstrated —</a:t>
            </a:r>
            <a:r>
              <a:rPr sz="1300" b="0" i="0">
                <a:solidFill>
                  <a:srgbClr val="101A22"/>
                </a:solidFill>
                <a:latin typeface="Segoe UI"/>
              </a:rPr>
              <a:t>  a working three-portal prototype exists, and every core engine is deterministic — hashing, geometry, a SQL join, a greedy heuristic.</a:t>
            </a:r>
          </a:p>
        </p:txBody>
      </p:sp>
      <p:pic>
        <p:nvPicPr>
          <p:cNvPr id="17413" name="Picture 17412" descr="ri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487" y="1865376"/>
            <a:ext cx="10332720" cy="4017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274320"/>
            <a:ext cx="8138160" cy="713232"/>
          </a:xfrm>
        </p:spPr>
        <p:txBody>
          <a:bodyPr wrap="square"/>
          <a:lstStyle/>
          <a:p>
            <a:pPr eaLnBrk="1" hangingPunct="1" algn="ctr">
              <a:defRPr/>
            </a:pPr>
            <a:r>
              <a:rPr sz="3000" b="1">
                <a:solidFill>
                  <a:srgbClr val="142A3D"/>
                </a:solidFill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 dirty="0"/>
              <a:t>Team Future Minds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imp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327" y="1188720"/>
            <a:ext cx="10607040" cy="2397376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65760" y="3723256"/>
            <a:ext cx="11457432" cy="2194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1" i="0">
                <a:solidFill>
                  <a:srgbClr val="6B7C84"/>
                </a:solidFill>
                <a:latin typeface="Segoe UI"/>
              </a:rPr>
              <a:t>THE PROTOTYPE, RUNNING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975207" y="3924424"/>
            <a:ext cx="3218688" cy="20391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7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pic>
        <p:nvPicPr>
          <p:cNvPr id="17413" name="Picture 17412" descr="ad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783" y="3961000"/>
            <a:ext cx="3145536" cy="1965960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1011783" y="5990968"/>
            <a:ext cx="3145536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6B7C84"/>
                </a:solidFill>
                <a:latin typeface="Segoe UI"/>
              </a:rPr>
              <a:t>Admin — civic health, SLA, escalations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486503" y="3924424"/>
            <a:ext cx="3218688" cy="20391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7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pic>
        <p:nvPicPr>
          <p:cNvPr id="17416" name="Picture 17415" descr="dep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3079" y="3961000"/>
            <a:ext cx="3145536" cy="1965960"/>
          </a:xfrm>
          <a:prstGeom prst="rect">
            <a:avLst/>
          </a:prstGeom>
        </p:spPr>
      </p:pic>
      <p:sp>
        <p:nvSpPr>
          <p:cNvPr id="17417" name="TextBox 17416"/>
          <p:cNvSpPr txBox="1"/>
          <p:nvPr/>
        </p:nvSpPr>
        <p:spPr>
          <a:xfrm>
            <a:off x="4523079" y="5990968"/>
            <a:ext cx="3145536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6B7C84"/>
                </a:solidFill>
                <a:latin typeface="Segoe UI"/>
              </a:rPr>
              <a:t>Department — priority queue, field work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7997799" y="3924424"/>
            <a:ext cx="3218688" cy="20391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7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pic>
        <p:nvPicPr>
          <p:cNvPr id="17419" name="Picture 17418" descr="admin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34375" y="3961000"/>
            <a:ext cx="3145536" cy="1965960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8034375" y="5990968"/>
            <a:ext cx="3145536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6B7C84"/>
                </a:solidFill>
                <a:latin typeface="Segoe UI"/>
              </a:rPr>
              <a:t>City map — ward hotspot clustering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5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274320"/>
            <a:ext cx="8138160" cy="713232"/>
          </a:xfrm>
        </p:spPr>
        <p:txBody>
          <a:bodyPr wrap="square"/>
          <a:lstStyle/>
          <a:p>
            <a:pPr eaLnBrk="1" hangingPunct="1" algn="ctr">
              <a:defRPr/>
            </a:pPr>
            <a:r>
              <a:rPr sz="3000" b="1">
                <a:solidFill>
                  <a:srgbClr val="142A3D"/>
                </a:solidFill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55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 dirty="0"/>
              <a:t>Team Future Minds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88720"/>
            <a:ext cx="11457432" cy="475488"/>
          </a:xfrm>
          <a:prstGeom prst="roundRect">
            <a:avLst>
              <a:gd name="adj" fmla="val 5000"/>
            </a:avLst>
          </a:prstGeom>
          <a:solidFill>
            <a:srgbClr val="F5F7F6"/>
          </a:solidFill>
          <a:ln w="12700">
            <a:solidFill>
              <a:srgbClr val="3E5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7411" name="Rectangle 17410"/>
          <p:cNvSpPr/>
          <p:nvPr/>
        </p:nvSpPr>
        <p:spPr>
          <a:xfrm>
            <a:off x="365760" y="1188720"/>
            <a:ext cx="50292" cy="475488"/>
          </a:xfrm>
          <a:prstGeom prst="rect">
            <a:avLst/>
          </a:prstGeom>
          <a:solidFill>
            <a:srgbClr val="3E5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188720"/>
            <a:ext cx="11128248" cy="475488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550" b="1" i="0">
                <a:solidFill>
                  <a:srgbClr val="3E5158"/>
                </a:solidFill>
                <a:latin typeface="Segoe UI"/>
              </a:rPr>
              <a:t>Every claim in this deck is sourced.</a:t>
            </a:r>
            <a:r>
              <a:rPr sz="1450" b="0" i="0">
                <a:solidFill>
                  <a:srgbClr val="101A22"/>
                </a:solidFill>
                <a:latin typeface="Segoe UI"/>
              </a:rPr>
              <a:t>  Government and product docs first; peer-reviewed research for anything contested.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65760" y="1792224"/>
            <a:ext cx="3685032" cy="3127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7414" name="Rectangle 17413"/>
          <p:cNvSpPr/>
          <p:nvPr/>
        </p:nvSpPr>
        <p:spPr>
          <a:xfrm>
            <a:off x="365760" y="1792224"/>
            <a:ext cx="3685032" cy="274320"/>
          </a:xfrm>
          <a:prstGeom prst="rect">
            <a:avLst/>
          </a:prstGeom>
          <a:solidFill>
            <a:srgbClr val="EA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7415" name="TextBox 17414"/>
          <p:cNvSpPr txBox="1"/>
          <p:nvPr/>
        </p:nvSpPr>
        <p:spPr>
          <a:xfrm>
            <a:off x="475488" y="1833372"/>
            <a:ext cx="3465576" cy="2194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1" i="0">
                <a:solidFill>
                  <a:srgbClr val="1E3FA8"/>
                </a:solidFill>
                <a:latin typeface="Segoe UI"/>
              </a:rPr>
              <a:t>TIER 1 — GOVERNMENT &amp; PRODUCT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75488" y="2139696"/>
            <a:ext cx="3465576" cy="268833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50"/>
              </a:spcAft>
              <a:defRPr/>
            </a:pPr>
            <a:r>
              <a:rPr sz="1050" b="0" i="0">
                <a:solidFill>
                  <a:srgbClr val="9BAAB0"/>
                </a:solidFill>
                <a:latin typeface="Segoe UI"/>
              </a:rPr>
              <a:t>•  </a:t>
            </a:r>
            <a:r>
              <a:rPr sz="1050" b="1" i="0">
                <a:solidFill>
                  <a:srgbClr val="101A22"/>
                </a:solidFill>
                <a:latin typeface="Segoe UI"/>
              </a:rPr>
              <a:t>GovTech Singapore, OneService — </a:t>
            </a:r>
            <a:r>
              <a:rPr sz="1050" b="0" i="0">
                <a:solidFill>
                  <a:srgbClr val="3E5158"/>
                </a:solidFill>
                <a:latin typeface="Segoe UI"/>
              </a:rPr>
              <a:t>~80% case-type, ~85% routing accuracy. An honest ceiling for AI routing.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50"/>
              </a:spcAft>
              <a:defRPr/>
            </a:pPr>
            <a:r>
              <a:rPr sz="1050" b="0" i="0">
                <a:solidFill>
                  <a:srgbClr val="9BAAB0"/>
                </a:solidFill>
                <a:latin typeface="Segoe UI"/>
              </a:rPr>
              <a:t>•  </a:t>
            </a:r>
            <a:r>
              <a:rPr sz="1050" b="1" i="0">
                <a:solidFill>
                  <a:srgbClr val="101A22"/>
                </a:solidFill>
                <a:latin typeface="Segoe UI"/>
              </a:rPr>
              <a:t>DARPG CPGRAMS / IGMS — </a:t>
            </a:r>
            <a:r>
              <a:rPr sz="1050" b="0" i="0">
                <a:solidFill>
                  <a:srgbClr val="3E5158"/>
                </a:solidFill>
                <a:latin typeface="Segoe UI"/>
              </a:rPr>
              <a:t>national spam, bulk and repeat-grievance detection, topic clustering.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50"/>
              </a:spcAft>
              <a:defRPr/>
            </a:pPr>
            <a:r>
              <a:rPr sz="1050" b="0" i="0">
                <a:solidFill>
                  <a:srgbClr val="9BAAB0"/>
                </a:solidFill>
                <a:latin typeface="Segoe UI"/>
              </a:rPr>
              <a:t>•  </a:t>
            </a:r>
            <a:r>
              <a:rPr sz="1050" b="1" i="0">
                <a:solidFill>
                  <a:srgbClr val="101A22"/>
                </a:solidFill>
                <a:latin typeface="Segoe UI"/>
              </a:rPr>
              <a:t>Swachhata-MoHUA (Janaagraha, 2025) — </a:t>
            </a:r>
            <a:r>
              <a:rPr sz="1050" b="0" i="0">
                <a:solidFill>
                  <a:srgbClr val="3E5158"/>
                </a:solidFill>
                <a:latin typeface="Segoe UI"/>
              </a:rPr>
              <a:t>geotag capture, vote-up, resolution images, reopen. The India baseline.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251960" y="1792224"/>
            <a:ext cx="3685032" cy="3127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7418" name="Rectangle 17417"/>
          <p:cNvSpPr/>
          <p:nvPr/>
        </p:nvSpPr>
        <p:spPr>
          <a:xfrm>
            <a:off x="4251960" y="1792224"/>
            <a:ext cx="3685032" cy="274320"/>
          </a:xfrm>
          <a:prstGeom prst="rect">
            <a:avLst/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7419" name="TextBox 17418"/>
          <p:cNvSpPr txBox="1"/>
          <p:nvPr/>
        </p:nvSpPr>
        <p:spPr>
          <a:xfrm>
            <a:off x="4361688" y="1833372"/>
            <a:ext cx="3465576" cy="2194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1" i="0">
                <a:solidFill>
                  <a:srgbClr val="12703A"/>
                </a:solidFill>
                <a:latin typeface="Segoe UI"/>
              </a:rPr>
              <a:t>TIER 2 — PEER-REVIEWED RESEARCH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361688" y="2139696"/>
            <a:ext cx="3465576" cy="268833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50"/>
              </a:spcAft>
              <a:defRPr/>
            </a:pPr>
            <a:r>
              <a:rPr sz="1050" b="0" i="0">
                <a:solidFill>
                  <a:srgbClr val="9BAAB0"/>
                </a:solidFill>
                <a:latin typeface="Segoe UI"/>
              </a:rPr>
              <a:t>•  </a:t>
            </a:r>
            <a:r>
              <a:rPr sz="1050" b="1" i="0">
                <a:solidFill>
                  <a:srgbClr val="101A22"/>
                </a:solidFill>
                <a:latin typeface="Segoe UI"/>
              </a:rPr>
              <a:t>“A Cautionary Tail” (arXiv 1807.03860) — </a:t>
            </a:r>
            <a:r>
              <a:rPr sz="1050" b="0" i="0">
                <a:solidFill>
                  <a:srgbClr val="3E5158"/>
                </a:solidFill>
                <a:latin typeface="Segoe UI"/>
              </a:rPr>
              <a:t>a rat model that passed on 311 data, then failed field inspection. Why we don’t ship complaint-based prediction.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50"/>
              </a:spcAft>
              <a:defRPr/>
            </a:pPr>
            <a:r>
              <a:rPr sz="1050" b="0" i="0">
                <a:solidFill>
                  <a:srgbClr val="9BAAB0"/>
                </a:solidFill>
                <a:latin typeface="Segoe UI"/>
              </a:rPr>
              <a:t>•  </a:t>
            </a:r>
            <a:r>
              <a:rPr sz="1050" b="1" i="0">
                <a:solidFill>
                  <a:srgbClr val="101A22"/>
                </a:solidFill>
                <a:latin typeface="Segoe UI"/>
              </a:rPr>
              <a:t>Kontokosta et al., 311 equity — </a:t>
            </a:r>
            <a:r>
              <a:rPr sz="1050" b="0" i="0">
                <a:solidFill>
                  <a:srgbClr val="3E5158"/>
                </a:solidFill>
                <a:latin typeface="Segoe UI"/>
              </a:rPr>
              <a:t>propensity to complain varies with income and language; raw hotspots misallocate service.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50"/>
              </a:spcAft>
              <a:defRPr/>
            </a:pPr>
            <a:r>
              <a:rPr sz="1050" b="0" i="0">
                <a:solidFill>
                  <a:srgbClr val="9BAAB0"/>
                </a:solidFill>
                <a:latin typeface="Segoe UI"/>
              </a:rPr>
              <a:t>•  </a:t>
            </a:r>
            <a:r>
              <a:rPr sz="1050" b="1" i="0">
                <a:solidFill>
                  <a:srgbClr val="101A22"/>
                </a:solidFill>
                <a:latin typeface="Segoe UI"/>
              </a:rPr>
              <a:t>“Reporting bias in 311 data”, Annals of Applied Statistics — </a:t>
            </a:r>
            <a:r>
              <a:rPr sz="1050" b="0" i="0">
                <a:solidFill>
                  <a:srgbClr val="3E5158"/>
                </a:solidFill>
                <a:latin typeface="Segoe UI"/>
              </a:rPr>
              <a:t>the correction method behind our Ward Reality Index.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8138160" y="1792224"/>
            <a:ext cx="3685032" cy="3127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7422" name="Rectangle 17421"/>
          <p:cNvSpPr/>
          <p:nvPr/>
        </p:nvSpPr>
        <p:spPr>
          <a:xfrm>
            <a:off x="8138160" y="1792224"/>
            <a:ext cx="3685032" cy="274320"/>
          </a:xfrm>
          <a:prstGeom prst="rect">
            <a:avLst/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7423" name="TextBox 17422"/>
          <p:cNvSpPr txBox="1"/>
          <p:nvPr/>
        </p:nvSpPr>
        <p:spPr>
          <a:xfrm>
            <a:off x="8247888" y="1833372"/>
            <a:ext cx="3465576" cy="2194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1" i="0">
                <a:solidFill>
                  <a:srgbClr val="B35A12"/>
                </a:solidFill>
                <a:latin typeface="Segoe UI"/>
              </a:rPr>
              <a:t>TIER 3–4 — INDUSTRY &amp; PRESS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8247888" y="2139696"/>
            <a:ext cx="3465576" cy="268833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50"/>
              </a:spcAft>
              <a:defRPr/>
            </a:pPr>
            <a:r>
              <a:rPr sz="1050" b="0" i="0">
                <a:solidFill>
                  <a:srgbClr val="9BAAB0"/>
                </a:solidFill>
                <a:latin typeface="Segoe UI"/>
              </a:rPr>
              <a:t>•  </a:t>
            </a:r>
            <a:r>
              <a:rPr sz="1050" b="1" i="0">
                <a:solidFill>
                  <a:srgbClr val="101A22"/>
                </a:solidFill>
                <a:latin typeface="Segoe UI"/>
              </a:rPr>
              <a:t>ThePrint, 2 July 2026 — </a:t>
            </a:r>
            <a:r>
              <a:rPr sz="1050" b="0" i="0">
                <a:solidFill>
                  <a:srgbClr val="3E5158"/>
                </a:solidFill>
                <a:latin typeface="Segoe UI"/>
              </a:rPr>
              <a:t>Gurugram sacked an inspector for AI-generated closure photos; a colleague spoofed GPS. Our problem statement.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50"/>
              </a:spcAft>
              <a:defRPr/>
            </a:pPr>
            <a:r>
              <a:rPr sz="1050" b="0" i="0">
                <a:solidFill>
                  <a:srgbClr val="9BAAB0"/>
                </a:solidFill>
                <a:latin typeface="Segoe UI"/>
              </a:rPr>
              <a:t>•  </a:t>
            </a:r>
            <a:r>
              <a:rPr sz="1050" b="1" i="0">
                <a:solidFill>
                  <a:srgbClr val="101A22"/>
                </a:solidFill>
                <a:latin typeface="Segoe UI"/>
              </a:rPr>
              <a:t>Truepic Vision — </a:t>
            </a:r>
            <a:r>
              <a:rPr sz="1050" b="0" i="0">
                <a:solidFill>
                  <a:srgbClr val="3E5158"/>
                </a:solidFill>
                <a:latin typeface="Segoe UI"/>
              </a:rPr>
              <a:t>controlled capture: rooted-device, GPS-spoof, screen-recapture and reused-image detection.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50"/>
              </a:spcAft>
              <a:defRPr/>
            </a:pPr>
            <a:r>
              <a:rPr sz="1050" b="0" i="0">
                <a:solidFill>
                  <a:srgbClr val="9BAAB0"/>
                </a:solidFill>
                <a:latin typeface="Segoe UI"/>
              </a:rPr>
              <a:t>•  </a:t>
            </a:r>
            <a:r>
              <a:rPr sz="1050" b="1" i="0">
                <a:solidFill>
                  <a:srgbClr val="101A22"/>
                </a:solidFill>
                <a:latin typeface="Segoe UI"/>
              </a:rPr>
              <a:t>SocietyWorks, FixMyStreet Pro — </a:t>
            </a:r>
            <a:r>
              <a:rPr sz="1050" b="0" i="0">
                <a:solidFill>
                  <a:srgbClr val="3E5158"/>
                </a:solidFill>
                <a:latin typeface="Segoe UI"/>
              </a:rPr>
              <a:t>council asset layers: tap the actual lamp column, its reference auto-fills.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65760" y="5047488"/>
            <a:ext cx="11457432" cy="1225296"/>
          </a:xfrm>
          <a:prstGeom prst="roundRect">
            <a:avLst>
              <a:gd name="adj" fmla="val 5000"/>
            </a:avLst>
          </a:prstGeom>
          <a:solidFill>
            <a:srgbClr val="FBEBE7"/>
          </a:solidFill>
          <a:ln w="12700">
            <a:solidFill>
              <a:srgbClr val="B3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7426" name="Rectangle 17425"/>
          <p:cNvSpPr/>
          <p:nvPr/>
        </p:nvSpPr>
        <p:spPr>
          <a:xfrm>
            <a:off x="365760" y="5047488"/>
            <a:ext cx="50292" cy="1225296"/>
          </a:xfrm>
          <a:prstGeom prst="rect">
            <a:avLst/>
          </a:prstGeom>
          <a:solidFill>
            <a:srgbClr val="B33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/>
            </a:pPr>
          </a:p>
        </p:txBody>
      </p:sp>
      <p:sp>
        <p:nvSpPr>
          <p:cNvPr id="17427" name="TextBox 17426"/>
          <p:cNvSpPr txBox="1"/>
          <p:nvPr/>
        </p:nvSpPr>
        <p:spPr>
          <a:xfrm>
            <a:off x="548640" y="5047488"/>
            <a:ext cx="11128248" cy="1225296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450" b="1" i="0">
                <a:solidFill>
                  <a:srgbClr val="B33A1E"/>
                </a:solidFill>
                <a:latin typeface="Segoe UI"/>
              </a:rPr>
              <a:t>Where the evidence was not good enough, we say so.</a:t>
            </a:r>
            <a:r>
              <a:rPr sz="1250" b="0" i="0">
                <a:solidFill>
                  <a:srgbClr val="101A22"/>
                </a:solidFill>
                <a:latin typeface="Segoe UI"/>
              </a:rPr>
              <a:t>  Swachhata’s per-category SLA hours are widely repeated but we could not confirm them against an official MoHUA source. Vendor figures are treated as capability evidence, never measured outcomes.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7497</TotalTime>
  <Words>472</Words>
  <Application>Microsoft Office PowerPoint</Application>
  <PresentationFormat>Widescreen</PresentationFormat>
  <Paragraphs>57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Devbrat Sharma</cp:lastModifiedBy>
  <cp:revision>151</cp:revision>
  <dcterms:created xsi:type="dcterms:W3CDTF">2013-12-12T18:46:50Z</dcterms:created>
  <dcterms:modified xsi:type="dcterms:W3CDTF">2026-08-24T16:14:15Z</dcterms:modified>
  <cp:category/>
</cp:coreProperties>
</file>