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48640" y="1005840"/>
            <a:ext cx="5669280" cy="384048"/>
          </a:xfrm>
        </p:spPr>
        <p:txBody>
          <a:bodyPr/>
          <a:lstStyle/>
          <a:p>
            <a:pPr algn="l"/>
            <a:r>
              <a:rPr sz="1200" b="1" i="0">
                <a:solidFill>
                  <a:srgbClr val="6B7C84"/>
                </a:solidFill>
                <a:latin typeface="Segoe UI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8640" y="310896"/>
            <a:ext cx="8778240" cy="731520"/>
          </a:xfrm>
        </p:spPr>
        <p:txBody>
          <a:bodyPr/>
          <a:lstStyle/>
          <a:p>
            <a:pPr algn="l"/>
            <a:r>
              <a:rPr sz="2600" b="1">
                <a:solidFill>
                  <a:srgbClr val="142A3D"/>
                </a:solidFill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8640" y="1481328"/>
            <a:ext cx="5760720" cy="1417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4600" b="1" i="0">
                <a:solidFill>
                  <a:srgbClr val="142A3D"/>
                </a:solidFill>
                <a:latin typeface="Segoe UI"/>
              </a:rPr>
              <a:t>JAN-SEVA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B35A12"/>
                </a:solidFill>
                <a:latin typeface="Segoe UI"/>
              </a:rPr>
              <a:t>जन-सेवा  ·  Aapki Samasya, Hamari Jimmedari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E5158"/>
                </a:solidFill>
                <a:latin typeface="Segoe UI"/>
              </a:rPr>
              <a:t>A proof-of-work record for municipal maintenance — every citizen report becomes an evidence-bound job against a named piece of city infrastructure.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063240"/>
            <a:ext cx="5760720" cy="2395728"/>
          </a:xfrm>
          <a:prstGeom prst="roundRect">
            <a:avLst>
              <a:gd name="adj" fmla="val 4000"/>
            </a:avLst>
          </a:prstGeom>
          <a:solidFill>
            <a:srgbClr val="F5F7F6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200400"/>
            <a:ext cx="5449824" cy="21396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C84"/>
                </a:solidFill>
                <a:latin typeface="Segoe UI"/>
              </a:rPr>
              <a:t>Problem Statement ID  </a:t>
            </a:r>
            <a:r>
              <a:rPr sz="1150" b="1" i="0">
                <a:solidFill>
                  <a:srgbClr val="101A22"/>
                </a:solidFill>
                <a:latin typeface="Segoe UI"/>
              </a:rPr>
              <a:t>SIH018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C84"/>
                </a:solidFill>
                <a:latin typeface="Segoe UI"/>
              </a:rPr>
              <a:t>Problem Statement Title  </a:t>
            </a:r>
            <a:r>
              <a:rPr sz="1150" b="1" i="0">
                <a:solidFill>
                  <a:srgbClr val="101A22"/>
                </a:solidFill>
                <a:latin typeface="Segoe UI"/>
              </a:rPr>
              <a:t>Smart Civic Issue Reporting Platform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C84"/>
                </a:solidFill>
                <a:latin typeface="Segoe UI"/>
              </a:rPr>
              <a:t>Theme  </a:t>
            </a:r>
            <a:r>
              <a:rPr sz="1150" b="1" i="0">
                <a:solidFill>
                  <a:srgbClr val="101A22"/>
                </a:solidFill>
                <a:latin typeface="Segoe UI"/>
              </a:rPr>
              <a:t>Smart Automation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C84"/>
                </a:solidFill>
                <a:latin typeface="Segoe UI"/>
              </a:rPr>
              <a:t>PS Category  </a:t>
            </a:r>
            <a:r>
              <a:rPr sz="1150" b="1" i="0">
                <a:solidFill>
                  <a:srgbClr val="101A22"/>
                </a:solidFill>
                <a:latin typeface="Segoe UI"/>
              </a:rPr>
              <a:t>Software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C84"/>
                </a:solidFill>
                <a:latin typeface="Segoe UI"/>
              </a:rPr>
              <a:t>Team Name  </a:t>
            </a:r>
            <a:r>
              <a:rPr sz="1150" b="1" i="0">
                <a:solidFill>
                  <a:srgbClr val="101A22"/>
                </a:solidFill>
                <a:latin typeface="Segoe UI"/>
              </a:rPr>
              <a:t>Future Minds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6B7C84"/>
                </a:solidFill>
                <a:latin typeface="Segoe UI"/>
              </a:rPr>
              <a:t>Team ID  </a:t>
            </a:r>
            <a:r>
              <a:rPr sz="1150" b="1" i="0">
                <a:solidFill>
                  <a:srgbClr val="101A22"/>
                </a:solidFill>
                <a:latin typeface="Segoe UI"/>
              </a:rPr>
              <a:t>&lt;Enter Team ID&gt;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0216" y="1426464"/>
            <a:ext cx="5458968" cy="32115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1" name="Picture 40" descr="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81328"/>
            <a:ext cx="5349240" cy="310181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55080" y="4692872"/>
            <a:ext cx="534924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2703A"/>
                </a:solidFill>
                <a:latin typeface="Segoe UI"/>
              </a:rPr>
              <a:t>Working prototype — not a mockup.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E5158"/>
                </a:solidFill>
                <a:latin typeface="Segoe UI"/>
              </a:rPr>
              <a:t>Citizen portal, five department portals and an Admin Command Centre are built and running: 207 source files, ~26,000 lines of TypeScript.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669280"/>
            <a:ext cx="1847088" cy="402336"/>
          </a:xfrm>
          <a:prstGeom prst="roundRect">
            <a:avLst>
              <a:gd name="adj" fmla="val 28000"/>
            </a:avLst>
          </a:prstGeom>
          <a:solidFill>
            <a:srgbClr val="E9F7EF"/>
          </a:solidFill>
          <a:ln w="12700">
            <a:solidFill>
              <a:srgbClr val="12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669280"/>
            <a:ext cx="1847088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703A"/>
                </a:solidFill>
                <a:latin typeface="Segoe UI"/>
              </a:rPr>
              <a:t>Proof of Repair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05456" y="5669280"/>
            <a:ext cx="1847088" cy="402336"/>
          </a:xfrm>
          <a:prstGeom prst="roundRect">
            <a:avLst>
              <a:gd name="adj" fmla="val 28000"/>
            </a:avLst>
          </a:prstGeom>
          <a:solidFill>
            <a:srgbClr val="EAF0FC"/>
          </a:solidFill>
          <a:ln w="12700">
            <a:solidFill>
              <a:srgbClr val="1E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05456" y="5669280"/>
            <a:ext cx="1847088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3FA8"/>
                </a:solidFill>
                <a:latin typeface="Segoe UI"/>
              </a:rPr>
              <a:t>Civic Asset Memory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62272" y="5669280"/>
            <a:ext cx="1847088" cy="402336"/>
          </a:xfrm>
          <a:prstGeom prst="roundRect">
            <a:avLst>
              <a:gd name="adj" fmla="val 28000"/>
            </a:avLst>
          </a:prstGeom>
          <a:solidFill>
            <a:srgbClr val="FDF1E8"/>
          </a:solidFill>
          <a:ln w="12700">
            <a:solidFill>
              <a:srgbClr val="B35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2" y="5669280"/>
            <a:ext cx="1847088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35A12"/>
                </a:solidFill>
                <a:latin typeface="Segoe UI"/>
              </a:rPr>
              <a:t>One-Trip Work Card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eaLnBrk="1" hangingPunct="1" algn="ctr"/>
            <a:r>
              <a:rPr sz="2800" b="1">
                <a:solidFill>
                  <a:srgbClr val="142A3D"/>
                </a:solidFill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1188720"/>
            <a:ext cx="11457432" cy="566928"/>
          </a:xfrm>
          <a:prstGeom prst="roundRect">
            <a:avLst>
              <a:gd name="adj" fmla="val 5000"/>
            </a:avLst>
          </a:prstGeom>
          <a:solidFill>
            <a:srgbClr val="EAF0FC"/>
          </a:solidFill>
          <a:ln w="12700">
            <a:solidFill>
              <a:srgbClr val="1E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3" name="Rectangle 15362"/>
          <p:cNvSpPr/>
          <p:nvPr/>
        </p:nvSpPr>
        <p:spPr>
          <a:xfrm>
            <a:off x="365760" y="1188720"/>
            <a:ext cx="50292" cy="566928"/>
          </a:xfrm>
          <a:prstGeom prst="rect">
            <a:avLst/>
          </a:prstGeom>
          <a:solidFill>
            <a:srgbClr val="1E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548640" y="1188720"/>
            <a:ext cx="11128248" cy="56692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3FA8"/>
                </a:solidFill>
                <a:latin typeface="Segoe UI"/>
              </a:rPr>
              <a:t>Proposed Solution —</a:t>
            </a:r>
            <a:r>
              <a:rPr sz="1300" b="0" i="0">
                <a:solidFill>
                  <a:srgbClr val="101A22"/>
                </a:solidFill>
                <a:latin typeface="Segoe UI"/>
              </a:rPr>
              <a:t>  India already solved civic reporting. Nobody verifies the repair. JAN-SEVA does.</a:t>
            </a:r>
          </a:p>
        </p:txBody>
      </p:sp>
      <p:pic>
        <p:nvPicPr>
          <p:cNvPr id="15365" name="Picture 15364" descr="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27" y="1865376"/>
            <a:ext cx="11064240" cy="3428560"/>
          </a:xfrm>
          <a:prstGeom prst="rect">
            <a:avLst/>
          </a:prstGeom>
        </p:spPr>
      </p:pic>
      <p:sp>
        <p:nvSpPr>
          <p:cNvPr id="15366" name="Rounded Rectangle 15365"/>
          <p:cNvSpPr/>
          <p:nvPr/>
        </p:nvSpPr>
        <p:spPr>
          <a:xfrm>
            <a:off x="365760" y="5412808"/>
            <a:ext cx="3685032" cy="859975"/>
          </a:xfrm>
          <a:prstGeom prst="roundRect">
            <a:avLst>
              <a:gd name="adj" fmla="val 7000"/>
            </a:avLst>
          </a:prstGeom>
          <a:solidFill>
            <a:srgbClr val="E9F7EF"/>
          </a:solidFill>
          <a:ln w="12700">
            <a:solidFill>
              <a:srgbClr val="12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484632" y="5495104"/>
            <a:ext cx="3447288" cy="695383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2703A"/>
                </a:solidFill>
                <a:latin typeface="Segoe UI"/>
              </a:rPr>
              <a:t>1  Proof of Repair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E5158"/>
                </a:solidFill>
                <a:latin typeface="Segoe UI"/>
              </a:rPr>
              <a:t>Evidence must be captured live in-app, at the reported location, on an un-spoofed device, and must never have been submitted before anywhere in the city.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251960" y="5412808"/>
            <a:ext cx="3685032" cy="859975"/>
          </a:xfrm>
          <a:prstGeom prst="roundRect">
            <a:avLst>
              <a:gd name="adj" fmla="val 7000"/>
            </a:avLst>
          </a:prstGeom>
          <a:solidFill>
            <a:srgbClr val="EAF0FC"/>
          </a:solidFill>
          <a:ln w="12700">
            <a:solidFill>
              <a:srgbClr val="1E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4370832" y="5495104"/>
            <a:ext cx="3447288" cy="695383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E3FA8"/>
                </a:solidFill>
                <a:latin typeface="Segoe UI"/>
              </a:rPr>
              <a:t>2  Civic Asset Memory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E5158"/>
                </a:solidFill>
                <a:latin typeface="Segoe UI"/>
              </a:rPr>
              <a:t>Reports attach to a road segment, pole or drain — not a coordinate. A repeat failure inside the contractor's defect liability period becomes a warranty claim, not a new municipal bill.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138160" y="5412808"/>
            <a:ext cx="3685032" cy="859975"/>
          </a:xfrm>
          <a:prstGeom prst="roundRect">
            <a:avLst>
              <a:gd name="adj" fmla="val 7000"/>
            </a:avLst>
          </a:prstGeom>
          <a:solidFill>
            <a:srgbClr val="FDF1E8"/>
          </a:solidFill>
          <a:ln w="12700">
            <a:solidFill>
              <a:srgbClr val="B35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8257032" y="5495104"/>
            <a:ext cx="3447288" cy="695383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B35A12"/>
                </a:solidFill>
                <a:latin typeface="Segoe UI"/>
              </a:rPr>
              <a:t>3  One-Trip Work Card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E5158"/>
                </a:solidFill>
                <a:latin typeface="Segoe UI"/>
              </a:rPr>
              <a:t>Nearby jobs of the same skill are batched into one routed field visit that works offline — so the crew drives once, not five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eaLnBrk="1" hangingPunct="1" algn="ctr"/>
            <a:r>
              <a:rPr sz="2800" b="1">
                <a:solidFill>
                  <a:srgbClr val="142A3D"/>
                </a:solidFill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707" y="1188720"/>
            <a:ext cx="11384280" cy="3458459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365760" y="4793483"/>
            <a:ext cx="5618988" cy="1479300"/>
          </a:xfrm>
          <a:prstGeom prst="roundRect">
            <a:avLst>
              <a:gd name="adj" fmla="val 5000"/>
            </a:avLst>
          </a:prstGeom>
          <a:solidFill>
            <a:srgbClr val="F5F7F6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4884923"/>
            <a:ext cx="5344668" cy="12964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703A"/>
                </a:solidFill>
                <a:latin typeface="Segoe UI"/>
              </a:rPr>
              <a:t>Built and running today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Citizen, department and admin portals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report wizard, live tracking, SLA engine, escalation, audit trail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Offline sync queue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ordered retry with backoff, so a field note is never lost on one bar of signal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Privacy by type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the public view has no reporter field, so identity cannot leak even by mistake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04204" y="4793483"/>
            <a:ext cx="5618988" cy="1479300"/>
          </a:xfrm>
          <a:prstGeom prst="roundRect">
            <a:avLst>
              <a:gd name="adj" fmla="val 5000"/>
            </a:avLst>
          </a:prstGeom>
          <a:solidFill>
            <a:srgbClr val="F5F7F6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6341364" y="4884923"/>
            <a:ext cx="5344668" cy="12964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35A12"/>
                </a:solidFill>
                <a:latin typeface="Segoe UI"/>
              </a:rPr>
              <a:t>What we still have to build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Server-side capture proof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issued nonce, RFC 3161 timestamp, Play Integrity and mock-location attestation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Asset layer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real geometry from ULB GIS, or OSM road segments where no GIS exists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980" b="1" i="0">
                <a:solidFill>
                  <a:srgbClr val="101A22"/>
                </a:solidFill>
                <a:latin typeface="Segoe UI"/>
              </a:rPr>
              <a:t>Bhashini integration — </a:t>
            </a:r>
            <a:r>
              <a:rPr sz="980" b="0" i="0">
                <a:solidFill>
                  <a:srgbClr val="3E5158"/>
                </a:solidFill>
                <a:latin typeface="Segoe UI"/>
              </a:rPr>
              <a:t>Hindi speech to a structured complaint, using national language DPI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eaLnBrk="1" hangingPunct="1" algn="ctr"/>
            <a:r>
              <a:rPr sz="2800" b="1">
                <a:solidFill>
                  <a:srgbClr val="142A3D"/>
                </a:solidFill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548640"/>
          </a:xfrm>
          <a:prstGeom prst="roundRect">
            <a:avLst>
              <a:gd name="adj" fmla="val 5000"/>
            </a:avLst>
          </a:prstGeom>
          <a:solidFill>
            <a:srgbClr val="E9F7EF"/>
          </a:solidFill>
          <a:ln w="12700">
            <a:solidFill>
              <a:srgbClr val="12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65760" y="1188720"/>
            <a:ext cx="50292" cy="548640"/>
          </a:xfrm>
          <a:prstGeom prst="rect">
            <a:avLst/>
          </a:prstGeom>
          <a:solidFill>
            <a:srgbClr val="1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188720"/>
            <a:ext cx="11128248" cy="5486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703A"/>
                </a:solidFill>
                <a:latin typeface="Segoe UI"/>
              </a:rPr>
              <a:t>Feasibility is already demonstrated —</a:t>
            </a:r>
            <a:r>
              <a:rPr sz="1150" b="0" i="0">
                <a:solidFill>
                  <a:srgbClr val="101A22"/>
                </a:solidFill>
                <a:latin typeface="Segoe UI"/>
              </a:rPr>
              <a:t>  a working three-portal prototype exists, and every core engine is deterministic: hashing, geometry, a SQL join, a greedy heuristic and arithmetic.</a:t>
            </a:r>
          </a:p>
        </p:txBody>
      </p:sp>
      <p:pic>
        <p:nvPicPr>
          <p:cNvPr id="17413" name="Picture 17412" descr="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87" y="1865376"/>
            <a:ext cx="10332720" cy="401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eaLnBrk="1" hangingPunct="1" algn="ctr"/>
            <a:r>
              <a:rPr sz="2800" b="1">
                <a:solidFill>
                  <a:srgbClr val="142A3D"/>
                </a:solidFill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27" y="1188720"/>
            <a:ext cx="10607040" cy="2397376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365760" y="3723256"/>
            <a:ext cx="11457432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C84"/>
                </a:solidFill>
                <a:latin typeface="Segoe UI"/>
              </a:rPr>
              <a:t>THE PROTOTYPE, RUNNING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975207" y="3924424"/>
            <a:ext cx="3218688" cy="20391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3" name="Picture 17412" descr="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783" y="3961000"/>
            <a:ext cx="3145536" cy="196596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11783" y="5990968"/>
            <a:ext cx="3145536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C84"/>
                </a:solidFill>
                <a:latin typeface="Segoe UI"/>
              </a:rPr>
              <a:t>Admin Command Centre — civic health, SLA and escalations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486503" y="3924424"/>
            <a:ext cx="3218688" cy="20391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6" name="Picture 17415" descr="de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3079" y="3961000"/>
            <a:ext cx="3145536" cy="196596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4523079" y="5990968"/>
            <a:ext cx="3145536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C84"/>
                </a:solidFill>
                <a:latin typeface="Segoe UI"/>
              </a:rPr>
              <a:t>Department operations — priority queue and field work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997799" y="3924424"/>
            <a:ext cx="3218688" cy="20391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419" name="Picture 17418" descr="admin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375" y="3961000"/>
            <a:ext cx="3145536" cy="196596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034375" y="5990968"/>
            <a:ext cx="3145536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C84"/>
                </a:solidFill>
                <a:latin typeface="Segoe UI"/>
              </a:rPr>
              <a:t>City-wide civic map — hotspot clustering by ward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274320"/>
            <a:ext cx="8138160" cy="713232"/>
          </a:xfrm>
        </p:spPr>
        <p:txBody>
          <a:bodyPr wrap="square"/>
          <a:lstStyle/>
          <a:p>
            <a:pPr eaLnBrk="1" hangingPunct="1" algn="ctr"/>
            <a:r>
              <a:rPr sz="2800" b="1">
                <a:solidFill>
                  <a:srgbClr val="142A3D"/>
                </a:solidFill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Future Minds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11457432" cy="475488"/>
          </a:xfrm>
          <a:prstGeom prst="roundRect">
            <a:avLst>
              <a:gd name="adj" fmla="val 5000"/>
            </a:avLst>
          </a:prstGeom>
          <a:solidFill>
            <a:srgbClr val="F5F7F6"/>
          </a:solidFill>
          <a:ln w="12700">
            <a:solidFill>
              <a:srgbClr val="3E5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65760" y="1188720"/>
            <a:ext cx="50292" cy="475488"/>
          </a:xfrm>
          <a:prstGeom prst="rect">
            <a:avLst/>
          </a:prstGeom>
          <a:solidFill>
            <a:srgbClr val="3E5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188720"/>
            <a:ext cx="11128248" cy="47548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5158"/>
                </a:solidFill>
                <a:latin typeface="Segoe UI"/>
              </a:rPr>
              <a:t>Every claim in this deck is sourced.</a:t>
            </a:r>
            <a:r>
              <a:rPr sz="1100" b="0" i="0">
                <a:solidFill>
                  <a:srgbClr val="101A22"/>
                </a:solidFill>
                <a:latin typeface="Segoe UI"/>
              </a:rPr>
              <a:t>  Government and product documentation first; peer-reviewed research for anything contested.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792224"/>
            <a:ext cx="3685032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365760" y="1792224"/>
            <a:ext cx="3685032" cy="274320"/>
          </a:xfrm>
          <a:prstGeom prst="rect">
            <a:avLst/>
          </a:prstGeom>
          <a:solidFill>
            <a:srgbClr val="EA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1833372"/>
            <a:ext cx="3465576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E3FA8"/>
                </a:solidFill>
                <a:latin typeface="Segoe UI"/>
              </a:rPr>
              <a:t>TIER 1 — GOVERNMENT &amp; PRODUCT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75488" y="2139696"/>
            <a:ext cx="3465576" cy="268833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GovTech Singapore, OneService chatbot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publishes ~80% case-type and ~85% routing accuracy; sets an honest ceiling for AI routing claims.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DARPG, CPGRAMS / pgportal.gov.in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IGMS already does spam, bulk and repetitive-grievance detection and topic clustering nationally.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Swachhata-MoHUA listing (Janaagraha, v3.6.47, Apr 2025)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geotagged capture, vote-up, resolution images, reopen. The India baseline.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City of Chicago CDOT, Pothole Repairs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daily 311 map drives crew routes; crews fill every pothole on the block.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NYC Council Int 0744-2024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would bar closing 311 requests solely as duplicates.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Open311 GeoReport v2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the interoperability standard we target.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51960" y="1792224"/>
            <a:ext cx="3685032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4251960" y="1792224"/>
            <a:ext cx="3685032" cy="274320"/>
          </a:xfrm>
          <a:prstGeom prst="rect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361688" y="1833372"/>
            <a:ext cx="3465576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2703A"/>
                </a:solidFill>
                <a:latin typeface="Segoe UI"/>
              </a:rPr>
              <a:t>TIER 2 — PEER-REVIEWED RESEARCH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361688" y="2139696"/>
            <a:ext cx="3465576" cy="268833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“A Cautionary Tail” (arXiv 1807.03860)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a DC rat model validated on 311 data and then failed field inspection. Why we do not ship complaint-based prediction.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Kontokosta et al., equity in 311 reporting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propensity to complain varies with income, language and civic engagement, so raw hotspots misallocate service.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“Estimating reporting bias in 311 complaint data”, Annals of Applied Statistics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the correction method behind our Ward Reality Index.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Bevan &amp; Hood, Public Administration (2006)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ranked public-sector targets get gamed; why we publish reasons, not a league table.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“Decide Madrid: A Critical Analysis”, Sustainability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participation collapses without a closed feedback loop.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138160" y="1792224"/>
            <a:ext cx="3685032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8138160" y="1792224"/>
            <a:ext cx="3685032" cy="274320"/>
          </a:xfrm>
          <a:prstGeom prst="rect">
            <a:avLst/>
          </a:prstGeom>
          <a:solidFill>
            <a:srgbClr val="F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247888" y="1833372"/>
            <a:ext cx="3465576" cy="21945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35A12"/>
                </a:solidFill>
                <a:latin typeface="Segoe UI"/>
              </a:rPr>
              <a:t>TIER 3–4 — INDUSTRY &amp; PRESS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47888" y="2139696"/>
            <a:ext cx="3465576" cy="268833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ThePrint, 2 July 2026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Gurugram MCG sacked a sanitation inspector for closing grievances with AI-generated photos; a colleague spoofed GPS. Our problem statement.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SocietyWorks, FixMyStreet Pro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council asset layers: the citizen taps the actual lamp column and its reference auto-fills.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Truepic Vision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controlled capture in insurance: rooted-device, GPS-spoof, screen-recapture and reused-image detection.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The Tribune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Chandigarh MC raised road defect liability from one year to three; and QCI Swachh Survekshan verifiers arrested over an alleged bribe.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50"/>
              </a:spcAft>
            </a:pPr>
            <a:r>
              <a:rPr sz="819" b="0" i="0">
                <a:solidFill>
                  <a:srgbClr val="9BAAB0"/>
                </a:solidFill>
                <a:latin typeface="Segoe UI"/>
              </a:rPr>
              <a:t>•  </a:t>
            </a:r>
            <a:r>
              <a:rPr sz="819" b="1" i="0">
                <a:solidFill>
                  <a:srgbClr val="101A22"/>
                </a:solidFill>
                <a:latin typeface="Segoe UI"/>
              </a:rPr>
              <a:t>Deccan Herald — </a:t>
            </a:r>
            <a:r>
              <a:rPr sz="819" b="0" i="0">
                <a:solidFill>
                  <a:srgbClr val="3E5158"/>
                </a:solidFill>
                <a:latin typeface="Segoe UI"/>
              </a:rPr>
              <a:t>BBMP's Sahaaya pulled from app stores, stranding citizens.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65760" y="5047488"/>
            <a:ext cx="11457432" cy="1225296"/>
          </a:xfrm>
          <a:prstGeom prst="roundRect">
            <a:avLst>
              <a:gd name="adj" fmla="val 5000"/>
            </a:avLst>
          </a:prstGeom>
          <a:solidFill>
            <a:srgbClr val="FBEBE7"/>
          </a:solidFill>
          <a:ln w="12700">
            <a:solidFill>
              <a:srgbClr val="B33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365760" y="5047488"/>
            <a:ext cx="50292" cy="1225296"/>
          </a:xfrm>
          <a:prstGeom prst="rect">
            <a:avLst/>
          </a:prstGeom>
          <a:solidFill>
            <a:srgbClr val="B33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548640" y="5047488"/>
            <a:ext cx="11128248" cy="12252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33A1E"/>
                </a:solidFill>
                <a:latin typeface="Segoe UI"/>
              </a:rPr>
              <a:t>Where the evidence was not good enough, we say so.</a:t>
            </a:r>
            <a:r>
              <a:rPr sz="950" b="0" i="0">
                <a:solidFill>
                  <a:srgbClr val="101A22"/>
                </a:solidFill>
                <a:latin typeface="Segoe UI"/>
              </a:rPr>
              <a:t>  Swachhata's per-category SLA hours are widely repeated but we could not confirm them against an official MoHUA source; a CAG finding on Swachh Survekshan self-reported data appeared only in an unreliable aggregator, so it is excluded. Vendor performance figures are treated as capability evidence, never as measured outcomes.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472</Words>
  <Application>Microsoft Office PowerPoint</Application>
  <PresentationFormat>Widescreen</PresentationFormat>
  <Paragraphs>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Devbrat Sharma</cp:lastModifiedBy>
  <cp:revision>151</cp:revision>
  <dcterms:created xsi:type="dcterms:W3CDTF">2013-12-12T18:46:50Z</dcterms:created>
  <dcterms:modified xsi:type="dcterms:W3CDTF">2026-08-24T16:14:15Z</dcterms:modified>
  <cp:category/>
</cp:coreProperties>
</file>